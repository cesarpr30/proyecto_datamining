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0"/>
              <a:t>Postores promedio por proceso (gris: descartado para competencia)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Postores promedio por proceso</c:v>
                </c:pt>
              </c:strCache>
            </c:strRef>
          </c:tx>
          <c:dPt>
            <c:idx val="0"/>
            <c:spPr>
              <a:solidFill>
                <a:srgbClr val="B9BEC6"/>
              </a:solidFill>
            </c:spPr>
          </c:dPt>
          <c:dPt>
            <c:idx val="1"/>
            <c:spPr>
              <a:solidFill>
                <a:srgbClr val="B9BEC6"/>
              </a:solidFill>
            </c:spPr>
          </c:dPt>
          <c:dPt>
            <c:idx val="2"/>
            <c:spPr>
              <a:solidFill>
                <a:srgbClr val="B9BEC6"/>
              </a:solidFill>
            </c:spPr>
          </c:dPt>
          <c:dPt>
            <c:idx val="3"/>
            <c:spPr>
              <a:solidFill>
                <a:srgbClr val="B9BEC6"/>
              </a:solidFill>
            </c:spPr>
          </c:dPt>
          <c:dPt>
            <c:idx val="4"/>
            <c:spPr>
              <a:solidFill>
                <a:srgbClr val="B9BEC6"/>
              </a:solidFill>
            </c:spPr>
          </c:dPt>
          <c:dPt>
            <c:idx val="5"/>
            <c:spPr>
              <a:solidFill>
                <a:srgbClr val="B9BEC6"/>
              </a:solidFill>
            </c:spPr>
          </c:dPt>
          <c:dPt>
            <c:idx val="6"/>
            <c:spPr>
              <a:solidFill>
                <a:srgbClr val="B9BEC6"/>
              </a:solidFill>
            </c:spPr>
          </c:dPt>
          <c:dPt>
            <c:idx val="7"/>
            <c:spPr>
              <a:solidFill>
                <a:srgbClr val="B9BEC6"/>
              </a:solidFill>
            </c:spPr>
          </c:dPt>
          <c:dPt>
            <c:idx val="8"/>
            <c:spPr>
              <a:solidFill>
                <a:srgbClr val="B9BEC6"/>
              </a:solidFill>
            </c:spPr>
          </c:dPt>
          <c:dPt>
            <c:idx val="9"/>
            <c:spPr>
              <a:solidFill>
                <a:srgbClr val="B9BEC6"/>
              </a:solidFill>
            </c:spPr>
          </c:dPt>
          <c:dPt>
            <c:idx val="10"/>
            <c:spPr>
              <a:solidFill>
                <a:srgbClr val="B9BEC6"/>
              </a:solidFill>
            </c:spPr>
          </c:dPt>
          <c:dPt>
            <c:idx val="11"/>
            <c:spPr>
              <a:solidFill>
                <a:srgbClr val="C21F32"/>
              </a:solidFill>
            </c:spPr>
          </c:dPt>
          <c:dPt>
            <c:idx val="12"/>
            <c:spPr>
              <a:solidFill>
                <a:srgbClr val="C21F32"/>
              </a:solidFill>
            </c:spPr>
          </c:dPt>
          <c:dPt>
            <c:idx val="13"/>
            <c:spPr>
              <a:solidFill>
                <a:srgbClr val="C21F32"/>
              </a:solidFill>
            </c:spPr>
          </c:dPt>
          <c:dPt>
            <c:idx val="14"/>
            <c:spPr>
              <a:solidFill>
                <a:srgbClr val="C21F32"/>
              </a:solidFill>
            </c:spPr>
          </c:dPt>
          <c:dPt>
            <c:idx val="15"/>
            <c:spPr>
              <a:solidFill>
                <a:srgbClr val="C21F32"/>
              </a:solidFill>
            </c:spPr>
          </c:dPt>
          <c:dPt>
            <c:idx val="16"/>
            <c:spPr>
              <a:solidFill>
                <a:srgbClr val="C21F32"/>
              </a:solidFill>
            </c:spPr>
          </c:dPt>
          <c:dPt>
            <c:idx val="17"/>
            <c:spPr>
              <a:solidFill>
                <a:srgbClr val="C21F32"/>
              </a:solidFill>
            </c:spPr>
          </c:dPt>
          <c:dPt>
            <c:idx val="18"/>
            <c:spPr>
              <a:solidFill>
                <a:srgbClr val="C21F32"/>
              </a:solidFill>
            </c:spPr>
          </c:dPt>
          <c:dPt>
            <c:idx val="19"/>
            <c:spPr>
              <a:solidFill>
                <a:srgbClr val="C21F32"/>
              </a:solidFill>
            </c:spPr>
          </c:dPt>
          <c:dPt>
            <c:idx val="20"/>
            <c:spPr>
              <a:solidFill>
                <a:srgbClr val="C21F32"/>
              </a:solidFill>
            </c:spPr>
          </c:dPt>
          <c:dPt>
            <c:idx val="21"/>
            <c:spPr>
              <a:solidFill>
                <a:srgbClr val="C21F32"/>
              </a:solidFill>
            </c:spPr>
          </c:dPt>
          <c:dPt>
            <c:idx val="22"/>
            <c:spPr>
              <a:solidFill>
                <a:srgbClr val="C21F32"/>
              </a:solidFill>
            </c:spPr>
          </c:dPt>
          <c:cat>
            <c:strRef>
              <c:f>Sheet1!$A$2:$A$24</c:f>
              <c:strCache>
                <c:ptCount val="23"/>
                <c:pt idx="0">
                  <c:v>2004</c:v>
                </c:pt>
                <c:pt idx="1">
                  <c:v>2005</c:v>
                </c:pt>
                <c:pt idx="2">
                  <c:v>2006</c:v>
                </c:pt>
                <c:pt idx="3">
                  <c:v>2007</c:v>
                </c:pt>
                <c:pt idx="4">
                  <c:v>2008</c:v>
                </c:pt>
                <c:pt idx="5">
                  <c:v>2009</c:v>
                </c:pt>
                <c:pt idx="6">
                  <c:v>2010</c:v>
                </c:pt>
                <c:pt idx="7">
                  <c:v>2011</c:v>
                </c:pt>
                <c:pt idx="8">
                  <c:v>2012</c:v>
                </c:pt>
                <c:pt idx="9">
                  <c:v>2013</c:v>
                </c:pt>
                <c:pt idx="10">
                  <c:v>2014</c:v>
                </c:pt>
                <c:pt idx="11">
                  <c:v>2015</c:v>
                </c:pt>
                <c:pt idx="12">
                  <c:v>2016</c:v>
                </c:pt>
                <c:pt idx="13">
                  <c:v>2017</c:v>
                </c:pt>
                <c:pt idx="14">
                  <c:v>2018</c:v>
                </c:pt>
                <c:pt idx="15">
                  <c:v>2019</c:v>
                </c:pt>
                <c:pt idx="16">
                  <c:v>2020</c:v>
                </c:pt>
                <c:pt idx="17">
                  <c:v>2021</c:v>
                </c:pt>
                <c:pt idx="18">
                  <c:v>2022</c:v>
                </c:pt>
                <c:pt idx="19">
                  <c:v>2023</c:v>
                </c:pt>
                <c:pt idx="20">
                  <c:v>2024</c:v>
                </c:pt>
                <c:pt idx="21">
                  <c:v>2025</c:v>
                </c:pt>
                <c:pt idx="22">
                  <c:v>2026</c:v>
                </c:pt>
              </c:strCache>
            </c:strRef>
          </c:cat>
          <c:val>
            <c:numRef>
              <c:f>Sheet1!$B$2:$B$24</c:f>
              <c:numCache>
                <c:formatCode>General</c:formatCode>
                <c:ptCount val="23"/>
                <c:pt idx="0">
                  <c:v>1.59</c:v>
                </c:pt>
                <c:pt idx="1">
                  <c:v>1.88</c:v>
                </c:pt>
                <c:pt idx="2">
                  <c:v>1.72</c:v>
                </c:pt>
                <c:pt idx="3">
                  <c:v>1.62</c:v>
                </c:pt>
                <c:pt idx="4">
                  <c:v>1.46</c:v>
                </c:pt>
                <c:pt idx="5">
                  <c:v>1.83</c:v>
                </c:pt>
                <c:pt idx="6">
                  <c:v>1.8</c:v>
                </c:pt>
                <c:pt idx="7">
                  <c:v>1.76</c:v>
                </c:pt>
                <c:pt idx="8">
                  <c:v>1.69</c:v>
                </c:pt>
                <c:pt idx="9">
                  <c:v>1.74</c:v>
                </c:pt>
                <c:pt idx="10">
                  <c:v>2.31</c:v>
                </c:pt>
                <c:pt idx="11">
                  <c:v>4.03</c:v>
                </c:pt>
                <c:pt idx="12">
                  <c:v>6.24</c:v>
                </c:pt>
                <c:pt idx="13">
                  <c:v>7.69</c:v>
                </c:pt>
                <c:pt idx="14">
                  <c:v>7.87</c:v>
                </c:pt>
                <c:pt idx="15">
                  <c:v>10.62</c:v>
                </c:pt>
                <c:pt idx="16">
                  <c:v>11.53</c:v>
                </c:pt>
                <c:pt idx="17">
                  <c:v>10.83</c:v>
                </c:pt>
                <c:pt idx="18">
                  <c:v>10.64</c:v>
                </c:pt>
                <c:pt idx="19">
                  <c:v>12.58</c:v>
                </c:pt>
                <c:pt idx="20">
                  <c:v>14.56</c:v>
                </c:pt>
                <c:pt idx="21">
                  <c:v>13.47</c:v>
                </c:pt>
                <c:pt idx="22">
                  <c:v>10.79</c:v>
                </c:pt>
              </c:numCache>
            </c:numRef>
          </c:val>
        </c:ser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4D7DB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4D7DB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5B6068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Segundos (mejor de 3)</c:v>
                </c:pt>
              </c:strCache>
            </c:strRef>
          </c:tx>
          <c:dPt>
            <c:idx val="0"/>
            <c:spPr>
              <a:solidFill>
                <a:srgbClr val="C21F32"/>
              </a:solidFill>
            </c:spPr>
          </c:dPt>
          <c:dPt>
            <c:idx val="1"/>
            <c:spPr>
              <a:solidFill>
                <a:srgbClr val="0E7C74"/>
              </a:solidFill>
            </c:spPr>
          </c:dPt>
          <c:dPt>
            <c:idx val="2"/>
            <c:spPr>
              <a:solidFill>
                <a:srgbClr val="0E7C74"/>
              </a:solidFill>
            </c:spPr>
          </c:dPt>
          <c:dPt>
            <c:idx val="3"/>
            <c:spPr>
              <a:solidFill>
                <a:srgbClr val="C21F32"/>
              </a:solidFill>
            </c:spPr>
          </c:dPt>
          <c:dPt>
            <c:idx val="4"/>
            <c:spPr>
              <a:solidFill>
                <a:srgbClr val="0E7C74"/>
              </a:solidFill>
            </c:spPr>
          </c:dPt>
          <c:cat>
            <c:strRef>
              <c:f>Sheet1!$A$2:$A$6</c:f>
              <c:strCache>
                <c:ptCount val="5"/>
                <c:pt idx="0">
                  <c:v>A · RDD</c:v>
                </c:pt>
                <c:pt idx="1">
                  <c:v>A · DataFrame</c:v>
                </c:pt>
                <c:pt idx="2">
                  <c:v>A · Spark SQL</c:v>
                </c:pt>
                <c:pt idx="3">
                  <c:v>B · RDD</c:v>
                </c:pt>
                <c:pt idx="4">
                  <c:v>B · DataFrame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22.606</c:v>
                </c:pt>
                <c:pt idx="1">
                  <c:v>0.389</c:v>
                </c:pt>
                <c:pt idx="2">
                  <c:v>0.391</c:v>
                </c:pt>
                <c:pt idx="3">
                  <c:v>22.25</c:v>
                </c:pt>
                <c:pt idx="4">
                  <c:v>0.184</c:v>
                </c:pt>
              </c:numCache>
            </c:numRef>
          </c:val>
        </c:ser>
        <c:dLbls>
          <c:numFmt formatCode="0.00&quot; s&quot;" sourceLinked="0"/>
          <c:txPr>
            <a:bodyPr/>
            <a:lstStyle/>
            <a:p>
              <a:pPr>
                <a:defRPr sz="12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4D7DB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D4D7DB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5B6068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 medido</c:v>
                </c:pt>
              </c:strCache>
            </c:strRef>
          </c:tx>
          <c:spPr>
            <a:ln w="31750">
              <a:solidFill>
                <a:srgbClr val="C21F32"/>
              </a:solidFill>
            </a:ln>
          </c:spPr>
          <c:marker>
            <c:spPr>
              <a:solidFill>
                <a:srgbClr val="C21F32"/>
              </a:solidFill>
              <a:ln>
                <a:solidFill>
                  <a:srgbClr val="C21F32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8</c:v>
                </c:pt>
                <c:pt idx="1">
                  <c:v>16</c:v>
                </c:pt>
                <c:pt idx="2">
                  <c:v>32</c:v>
                </c:pt>
                <c:pt idx="3">
                  <c:v>64</c:v>
                </c:pt>
                <c:pt idx="4">
                  <c:v>128</c:v>
                </c:pt>
                <c:pt idx="5">
                  <c:v>256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0.0646</c:v>
                </c:pt>
                <c:pt idx="1">
                  <c:v>0.0525</c:v>
                </c:pt>
                <c:pt idx="2">
                  <c:v>0.0375</c:v>
                </c:pt>
                <c:pt idx="3">
                  <c:v>0.027</c:v>
                </c:pt>
                <c:pt idx="4">
                  <c:v>0.0202</c:v>
                </c:pt>
                <c:pt idx="5">
                  <c:v>0.0141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Cota teórica 0,5/√T</c:v>
                </c:pt>
              </c:strCache>
            </c:strRef>
          </c:tx>
          <c:spPr>
            <a:ln w="31750">
              <a:solidFill>
                <a:srgbClr val="B9BEC6"/>
              </a:solidFill>
              <a:prstDash val="dash"/>
            </a:ln>
          </c:spPr>
          <c:marker>
            <c:spPr>
              <a:solidFill>
                <a:srgbClr val="B9BEC6"/>
              </a:solidFill>
              <a:ln>
                <a:solidFill>
                  <a:srgbClr val="B9BEC6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8</c:v>
                </c:pt>
                <c:pt idx="1">
                  <c:v>16</c:v>
                </c:pt>
                <c:pt idx="2">
                  <c:v>32</c:v>
                </c:pt>
                <c:pt idx="3">
                  <c:v>64</c:v>
                </c:pt>
                <c:pt idx="4">
                  <c:v>128</c:v>
                </c:pt>
                <c:pt idx="5">
                  <c:v>256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0.1768</c:v>
                </c:pt>
                <c:pt idx="1">
                  <c:v>0.125</c:v>
                </c:pt>
                <c:pt idx="2">
                  <c:v>0.0884</c:v>
                </c:pt>
                <c:pt idx="3">
                  <c:v>0.0625</c:v>
                </c:pt>
                <c:pt idx="4">
                  <c:v>0.0442</c:v>
                </c:pt>
                <c:pt idx="5">
                  <c:v>0.0312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200" b="0">
                    <a:solidFill>
                      <a:srgbClr val="5B6068"/>
                    </a:solidFill>
                  </a:rPr>
                  <a:t>Número de funciones hash T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D4D7DB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4D7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5B6068"/>
                    </a:solidFill>
                  </a:rPr>
                  <a:t>Error del Jaccard estimado</a:t>
                </a:r>
              </a:p>
            </c:rich>
          </c:tx>
          <c:layout/>
          <c:overlay val="0"/>
        </c:title>
        <c:numFmt formatCode="0.0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2118791784"/>
        <c:crosses val="autoZero"/>
      </c:valAx>
    </c:plotArea>
    <c:legend>
      <c:legendPos val="t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solidFill>
            <a:srgbClr val="5B6068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IVF nlist=4096 (nprobe 1→128)</c:v>
                </c:pt>
              </c:strCache>
            </c:strRef>
          </c:tx>
          <c:spPr>
            <a:ln w="31750">
              <a:solidFill>
                <a:srgbClr val="C21F32"/>
              </a:solidFill>
            </a:ln>
          </c:spPr>
          <c:marker>
            <c:spPr>
              <a:solidFill>
                <a:srgbClr val="C21F32"/>
              </a:solidFill>
              <a:ln>
                <a:solidFill>
                  <a:srgbClr val="C21F32"/>
                </a:solidFill>
              </a:ln>
            </c:spPr>
          </c:marker>
          <c:xVal>
            <c:numRef>
              <c:f>Sheet1!$A$2:$A$9</c:f>
              <c:numCache>
                <c:formatCode>General</c:formatCode>
                <c:ptCount val="8"/>
                <c:pt idx="0">
                  <c:v>0.164</c:v>
                </c:pt>
                <c:pt idx="1">
                  <c:v>0.219</c:v>
                </c:pt>
                <c:pt idx="2">
                  <c:v>0.243</c:v>
                </c:pt>
                <c:pt idx="3">
                  <c:v>0.33</c:v>
                </c:pt>
                <c:pt idx="4">
                  <c:v>0.479</c:v>
                </c:pt>
                <c:pt idx="5">
                  <c:v>0.726</c:v>
                </c:pt>
                <c:pt idx="6">
                  <c:v>1.263</c:v>
                </c:pt>
                <c:pt idx="7">
                  <c:v>2.019</c:v>
                </c:pt>
              </c:numCache>
            </c:numRef>
          </c:xVal>
          <c:yVal>
            <c:numRef>
              <c:f>Sheet1!$B$2:$B$9</c:f>
              <c:numCache>
                <c:formatCode>General</c:formatCode>
                <c:ptCount val="8"/>
                <c:pt idx="0">
                  <c:v>0.7487</c:v>
                </c:pt>
                <c:pt idx="1">
                  <c:v>0.877</c:v>
                </c:pt>
                <c:pt idx="2">
                  <c:v>0.9329</c:v>
                </c:pt>
                <c:pt idx="3">
                  <c:v>0.9664</c:v>
                </c:pt>
                <c:pt idx="4">
                  <c:v>0.9816</c:v>
                </c:pt>
                <c:pt idx="5">
                  <c:v>0.9905</c:v>
                </c:pt>
                <c:pt idx="6">
                  <c:v>0.9944</c:v>
                </c:pt>
                <c:pt idx="7">
                  <c:v>0.9975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Sheet1!$B$11</c:f>
              <c:strCache>
                <c:ptCount val="1"/>
                <c:pt idx="0">
                  <c:v>HNSW M=32 (efSearch 10→512)</c:v>
                </c:pt>
              </c:strCache>
            </c:strRef>
          </c:tx>
          <c:spPr>
            <a:ln w="31750">
              <a:solidFill>
                <a:srgbClr val="0E7C74"/>
              </a:solidFill>
            </a:ln>
          </c:spPr>
          <c:marker>
            <c:spPr>
              <a:solidFill>
                <a:srgbClr val="0E7C74"/>
              </a:solidFill>
              <a:ln>
                <a:solidFill>
                  <a:srgbClr val="0E7C74"/>
                </a:solidFill>
              </a:ln>
            </c:spPr>
          </c:marker>
          <c:xVal>
            <c:numRef>
              <c:f>Sheet1!$A$12:$A$18</c:f>
              <c:numCache>
                <c:formatCode>General</c:formatCode>
                <c:ptCount val="7"/>
                <c:pt idx="0">
                  <c:v>0.046</c:v>
                </c:pt>
                <c:pt idx="1">
                  <c:v>0.056</c:v>
                </c:pt>
                <c:pt idx="2">
                  <c:v>0.082</c:v>
                </c:pt>
                <c:pt idx="3">
                  <c:v>0.136</c:v>
                </c:pt>
                <c:pt idx="4">
                  <c:v>0.255</c:v>
                </c:pt>
                <c:pt idx="5">
                  <c:v>0.46</c:v>
                </c:pt>
                <c:pt idx="6">
                  <c:v>0.987</c:v>
                </c:pt>
              </c:numCache>
            </c:numRef>
          </c:xVal>
          <c:yVal>
            <c:numRef>
              <c:f>Sheet1!$B$12:$B$18</c:f>
              <c:numCache>
                <c:formatCode>General</c:formatCode>
                <c:ptCount val="7"/>
                <c:pt idx="0">
                  <c:v>0.8819</c:v>
                </c:pt>
                <c:pt idx="1">
                  <c:v>0.9095</c:v>
                </c:pt>
                <c:pt idx="2">
                  <c:v>0.9365</c:v>
                </c:pt>
                <c:pt idx="3">
                  <c:v>0.9541</c:v>
                </c:pt>
                <c:pt idx="4">
                  <c:v>0.967</c:v>
                </c:pt>
                <c:pt idx="5">
                  <c:v>0.9758</c:v>
                </c:pt>
                <c:pt idx="6">
                  <c:v>0.9811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logBase val="10"/>
          <c:orientation val="minMax"/>
          <c:max val="10.0"/>
          <c:min val="0.01"/>
        </c:scaling>
        <c:delete val="0"/>
        <c:axPos val="b"/>
        <c:title>
          <c:tx>
            <c:rich>
              <a:bodyPr/>
              <a:lstStyle/>
              <a:p>
                <a:r>
                  <a:rPr sz="1200" b="0">
                    <a:solidFill>
                      <a:srgbClr val="5B6068"/>
                    </a:solidFill>
                  </a:rPr>
                  <a:t>ms por consulta (escala log) · exacta = 57,6 ms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>
            <a:solidFill>
              <a:srgbClr val="D4D7DB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  <c:max val="1.0"/>
          <c:min val="0.7"/>
        </c:scaling>
        <c:delete val="0"/>
        <c:axPos val="l"/>
        <c:majorGridlines>
          <c:spPr>
            <a:ln>
              <a:solidFill>
                <a:srgbClr val="D4D7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5B6068"/>
                    </a:solidFill>
                  </a:rPr>
                  <a:t>Recall@10</a:t>
                </a:r>
              </a:p>
            </c:rich>
          </c:tx>
          <c:layout/>
          <c:overlay val="0"/>
        </c:title>
        <c:numFmt formatCode="0.0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128940872"/>
        <c:crosses val="min"/>
        <c:crossBetween val="midCat"/>
      </c:valAx>
    </c:plotArea>
    <c:legend>
      <c:legendPos val="t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solidFill>
            <a:srgbClr val="5B6068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Recall de los 10 vecinos exactos</c:v>
                </c:pt>
              </c:strCache>
            </c:strRef>
          </c:tx>
          <c:spPr>
            <a:solidFill>
              <a:srgbClr val="C21F32"/>
            </a:solidFill>
          </c:spPr>
          <c:cat>
            <c:strRef>
              <c:f>Sheet1!$A$2:$A$6</c:f>
              <c:strCache>
                <c:ptCount val="5"/>
                <c:pt idx="0">
                  <c:v>16</c:v>
                </c:pt>
                <c:pt idx="1">
                  <c:v>32</c:v>
                </c:pt>
                <c:pt idx="2">
                  <c:v>64</c:v>
                </c:pt>
                <c:pt idx="3">
                  <c:v>128</c:v>
                </c:pt>
                <c:pt idx="4">
                  <c:v>256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0.1767</c:v>
                </c:pt>
                <c:pt idx="1">
                  <c:v>0.212</c:v>
                </c:pt>
                <c:pt idx="2">
                  <c:v>0.2373</c:v>
                </c:pt>
                <c:pt idx="3">
                  <c:v>0.2687</c:v>
                </c:pt>
                <c:pt idx="4">
                  <c:v>0.333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 de casi-duplicados</c:v>
                </c:pt>
              </c:strCache>
            </c:strRef>
          </c:tx>
          <c:spPr>
            <a:solidFill>
              <a:srgbClr val="B9BEC6"/>
            </a:solidFill>
          </c:spPr>
          <c:cat>
            <c:strRef>
              <c:f>Sheet1!$A$2:$A$6</c:f>
              <c:strCache>
                <c:ptCount val="5"/>
                <c:pt idx="0">
                  <c:v>16</c:v>
                </c:pt>
                <c:pt idx="1">
                  <c:v>32</c:v>
                </c:pt>
                <c:pt idx="2">
                  <c:v>64</c:v>
                </c:pt>
                <c:pt idx="3">
                  <c:v>128</c:v>
                </c:pt>
                <c:pt idx="4">
                  <c:v>256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0.473</c:v>
                </c:pt>
                <c:pt idx="1">
                  <c:v>0.5292</c:v>
                </c:pt>
                <c:pt idx="2">
                  <c:v>0.5642</c:v>
                </c:pt>
                <c:pt idx="3">
                  <c:v>0.5822</c:v>
                </c:pt>
                <c:pt idx="4">
                  <c:v>0.6872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200" b="0">
                    <a:solidFill>
                      <a:srgbClr val="5B6068"/>
                    </a:solidFill>
                  </a:rPr>
                  <a:t>Dimensiones LSA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D4D7DB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</c:scaling>
        <c:delete val="0"/>
        <c:axPos val="l"/>
        <c:majorGridlines>
          <c:spPr>
            <a:ln>
              <a:solidFill>
                <a:srgbClr val="D4D7DB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solidFill>
            <a:srgbClr val="5B6068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Conjuntos frecuentes</c:v>
                </c:pt>
              </c:strCache>
            </c:strRef>
          </c:tx>
          <c:spPr>
            <a:solidFill>
              <a:srgbClr val="B9BEC6"/>
            </a:solidFill>
          </c:spPr>
          <c:cat>
            <c:strRef>
              <c:f>Sheet1!$A$2:$A$15</c:f>
              <c:strCache>
                <c:ptCount val="1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29756</c:v>
                </c:pt>
                <c:pt idx="1">
                  <c:v>118563</c:v>
                </c:pt>
                <c:pt idx="2">
                  <c:v>144767</c:v>
                </c:pt>
                <c:pt idx="3">
                  <c:v>119387</c:v>
                </c:pt>
                <c:pt idx="4">
                  <c:v>81582</c:v>
                </c:pt>
                <c:pt idx="5">
                  <c:v>47984</c:v>
                </c:pt>
                <c:pt idx="6">
                  <c:v>24544</c:v>
                </c:pt>
                <c:pt idx="7">
                  <c:v>11418</c:v>
                </c:pt>
                <c:pt idx="8">
                  <c:v>4837</c:v>
                </c:pt>
                <c:pt idx="9">
                  <c:v>1743</c:v>
                </c:pt>
                <c:pt idx="10">
                  <c:v>501</c:v>
                </c:pt>
                <c:pt idx="11">
                  <c:v>107</c:v>
                </c:pt>
                <c:pt idx="12">
                  <c:v>15</c:v>
                </c:pt>
                <c:pt idx="13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Maximales</c:v>
                </c:pt>
              </c:strCache>
            </c:strRef>
          </c:tx>
          <c:spPr>
            <a:solidFill>
              <a:srgbClr val="C21F32"/>
            </a:solidFill>
          </c:spPr>
          <c:cat>
            <c:strRef>
              <c:f>Sheet1!$A$2:$A$15</c:f>
              <c:strCache>
                <c:ptCount val="14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15174</c:v>
                </c:pt>
                <c:pt idx="1">
                  <c:v>54464</c:v>
                </c:pt>
                <c:pt idx="2">
                  <c:v>52198</c:v>
                </c:pt>
                <c:pt idx="3">
                  <c:v>32895</c:v>
                </c:pt>
                <c:pt idx="4">
                  <c:v>16523</c:v>
                </c:pt>
                <c:pt idx="5">
                  <c:v>7674</c:v>
                </c:pt>
                <c:pt idx="6">
                  <c:v>3347</c:v>
                </c:pt>
                <c:pt idx="7">
                  <c:v>975</c:v>
                </c:pt>
                <c:pt idx="8">
                  <c:v>272</c:v>
                </c:pt>
                <c:pt idx="9">
                  <c:v>77</c:v>
                </c:pt>
                <c:pt idx="10">
                  <c:v>26</c:v>
                </c:pt>
                <c:pt idx="11">
                  <c:v>3</c:v>
                </c:pt>
                <c:pt idx="12">
                  <c:v>1</c:v>
                </c:pt>
                <c:pt idx="13">
                  <c:v>1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sz="1200" b="0">
                    <a:solidFill>
                      <a:srgbClr val="5B6068"/>
                    </a:solidFill>
                  </a:rPr>
                  <a:t>RUC en el conjunto · 585 205 frecuentes → 183 630 maximales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spPr>
          <a:ln>
            <a:solidFill>
              <a:srgbClr val="D4D7DB"/>
            </a:solidFill>
          </a:ln>
        </c:spPr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4D7DB"/>
              </a:solidFill>
            </a:ln>
          </c:spPr>
        </c:majorGridlines>
        <c:numFmt formatCode="0,&quot; mil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200">
          <a:solidFill>
            <a:srgbClr val="5B6068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Mediana</c:v>
                </c:pt>
              </c:strCache>
            </c:strRef>
          </c:tx>
          <c:dPt>
            <c:idx val="0"/>
            <c:spPr>
              <a:solidFill>
                <a:srgbClr val="5B6068"/>
              </a:solidFill>
            </c:spPr>
          </c:dPt>
          <c:dPt>
            <c:idx val="1"/>
            <c:spPr>
              <a:solidFill>
                <a:srgbClr val="C21F32"/>
              </a:solidFill>
            </c:spPr>
          </c:dPt>
          <c:cat>
            <c:strRef>
              <c:f>Sheet1!$A$2:$A$3</c:f>
              <c:strCache>
                <c:ptCount val="2"/>
                <c:pt idx="0">
                  <c:v>Esperado al azar</c:v>
                </c:pt>
                <c:pt idx="1">
                  <c:v>Gana el grupo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0.359</c:v>
                </c:pt>
                <c:pt idx="1">
                  <c:v>0.828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800" b="1">
                  <a:solidFill>
                    <a:srgbClr val="FFFFF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D4D7DB"/>
            </a:solidFill>
          </a:ln>
        </c:spPr>
        <c:txPr>
          <a:bodyPr/>
          <a:lstStyle/>
          <a:p>
            <a:pPr>
              <a:defRPr sz="1400">
                <a:solidFill>
                  <a:srgbClr val="FFFFF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B9BEC6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CÉSAR (≈40 s). Buenos días. Somos César Pajuelo y Aleksander Paico. Nuestro proyecto aplica las seis familias de técnicas del curso al registro completo de contrataciones públicas del Perú: 2,76 millones de procesos del SEACE publicados por el OECE en estándar OCDS. El título resume las tres preguntas: quién compite, quién se repite y cómo vigilarlo. Yo presento los datos, el EDA en Spark y la similitud; Aleksander, vecinos aproximados, flujos, reglas y la discusión. Al final mostramos el reporte web y el código en vivo.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CÉSAR (≈1 min). Formulamos las preguntas después de perfilar el dataset, para que fueran respondibles con los campos reales. Ninguna es descriptiva. P1: si un grupo de empresas se presenta siempre en bloque, la competencia puede ser solo aparente; la atacamos con dos representaciones independientes: LSH sobre proveedor→procesos y FP-Growth sobre proceso→postores. P2: reutilizar especificaciones puede ser estandarización sana o TDR copiados; cruzamos similitud de texto con quién gana. P3: un órgano de control no puede reprocesar el histórico cada día; ¿cuánta precisión perdemos vigilando con resúmenes? Cada pregunta usa al menos dos técnicas, y eso es lo que integra el proyecto.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CÉSAR (≈1 min 15 s). Evaluamos las seis fuentes sugeridas. OCDS es la única que cumple los cuatro requisitos de forma natural: volumen (17 GB en CSV, tablas de hasta 12,8 millones de filas), conjuntos comparables (texto por proceso, RUC por postor), una marca de tiempo al minuto sin nulos, y una canasta densa proceso→postores. Descargamos las 25 particiones con un script automatizado desde el OCP Data Registry, licencia CC BY 4.0. Verificamos fila a fila que los conteos coinciden con lo que declara el publicador. Un dato clave: analizamos competencia solo en 2015-2026; en un momento explico por qué.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CÉSAR (≈1 min 15 s). Recorro el KDD rápido, quedándome con lo que no era obvio. Preprocesamiento: main.csv tiene cinco esquemas distintos entre años; un glob desalinea columnas en silencio, por eso leemos partición por partición y unimos con unionByName. 52 603 procesos con monto ≤ 0 se excluyen de montos; el número de postores se recalcula desde la tabla de postores. Transformación: Parquet particionado por año de PUBLICACIÓN, no por el año del archivo, que no coincide. Y materializamos una sola vez las representaciones que reutilizan las Partes II, III y V, como recomienda el enunciado.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CÉSAR (≈1 min 30 s). Este es el hallazgo que cambió todo el proyecto. Entre 2004 y 2014 hay 1,5 a 2,3 postores por proceso; en 2015 salta a 4 y llega a 14,6 en 2024. Un cambio así en un año no describe un mercado que se volvió competitivo: describe un cambio en lo que el sistema registra, antes se publicaba sobre todo al ganador. Tomarlo literal daría el hallazgo espectacular y falso de que la competencia se multiplicó por siete. Decisión: toda pregunta de competencia se resuelve en 2015-2026. También es el año desde el que existe el monto en soles. (Si preguntan: más adelante veremos que incluso después de 2015 'postor' incluye registros pasivos.)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CÉSAR (≈1 min). Tres hallazgos de distribución. Los montos abarcan nueve órdenes de magnitud: mediana S/ 144 mil, máximo S/ 3 035 millones; el promedio engaña, por eso usamos escala logarítmica. Los procesos de diez millones o más son solo el 1,6 % pero mueven el 58 % del dinero. El 1 % de las 3 163 entidades concentra el 40,6 % del monto: proyectos del MTC, EsSalud, Sedapal. Y la adjudicación simplificada domina en número, pero la licitación pública mueve 2,6 veces más dinero. Para P3 esto sugiere un caso de heavy hitters: pocos actores explican casi todo.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CÉSAR (≈1 min 30 s). Implementamos dos agregaciones de las preguntas —monto por entidad, y procesos y monto medio por año y categoría— en RDD con map y reduceByKey, en DataFrames y en Spark SQL. Mismo resultado, pero el RDD tarda 22,6 s contra 0,39 s. No es que los RDD sean lentos en abstracto: en PySpark cada fila viaja de la JVM a un proceso Python y vuelve; el DataFrame se queda en la JVM, Catalyst hace agregación parcial antes del shuffle y trabaja en memoria columnar. En claridad, SQL es el más legible; el RDD lo reservamos para lo que SQL no expresa bien, el Apriori. Particionado: al filtrar por año, el plan muestra PartitionFilters en el FileScan y Spark no abre los otros 24 directorios: de 0,61 a 0,15 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CÉSAR (≈1 min 30 s). Representación: cada proceso es el conjunto de sus shingles de 5 caracteres sobre título y descripción normalizados; caracteres y no palabras porque el texto mezcla códigos y siglas. Primero la verdad: Jaccard exacto sobre 2 000 procesos, casi 2 millones de pares, 22 s. Extrapolado a 883 mil procesos son 49 días: crece con n². MinHash propio: 256 funciones h(x)=(a·x+b) mod p escritas en Spark SQL con funciones de orden superior, sin UDF de Python. El error sigue 1/√T y queda bajo la cota teórica. T=128 es el punto de operación: RMSE 0,02, que no cambia qué pares superan 0,8. Detalle: con el primo 2^61−1 de la literatura el producto desborda el entero de 64 bits de Spark, por eso usamos 2^31−1.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CÉSAR (≈1 min 30 s). LSH por bandas, implementación propia en Spark. La firma de 256 se parte en b bandas de r filas; el umbral efectivo es aproximadamente (1/b)^(1/r). La tabla es la curva S vista desde los datos: con r=2 recuperamos todo pero con 577 mil falsos positivos, LSH no ahorra nada; con r ≥ 16 la precisión es perfecta pero perdemos casi todos. Elegimos b=32, r=8: umbral 0,65, 85 % de recall, 37 candidatos, y un filtro exacto posterior elimina los falsos positivos a costo despreciable. Advertencia honesta: con 20 pares reales cada par vale 5 puntos de recall. ¿Por qué no MinHashLSH de MLlib? Usa r=1 siempre: su umbral es 1/b. Volcó más de 11 GB a disco y no terminó; la nuestra con r=8 no volcó un byte.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CÉSAR (≈1 min 30 s). A escala: 883 mil procesos, 4,2 millones de candidatos —0,001 % de los pares— y 589 mil pares con Jaccard ≥ 0,8. El hallazgo no es el número sino la composición: el 98 % es de la misma entidad. No es plagio entre entidades; es reconvocatoria: un proceso desierto se vuelve a publicar con el mismo texto y otro OCID. LSH, planteada como búsqueda, terminó siendo una herramienta de limpieza: la Parte V colapsa esas reconvocatorias para no contar dos veces. Para P1: proveedor como conjunto de procesos. 2 275 pares con Jaccard ≥ 0,5 en 54 s, y un grupo de cuatro proveedores que aparecen en exactamente los mismos 37 procesos. Puede ser un consorcio o un mercado local pequeño: es una pista para mirar, no una conclusión. Le paso la palabra a Aleksander para vecinos aproximados.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ALEKSANDER (≈2 min). Representación: TF-IDF calculado en Spark SQL sobre 885 mil procesos, reducido con LSA a 256 dimensiones porque FAISS necesita vectores densos; el TF-IDF denso pesaría 70 GB. IVF agrupa los vectores con k-means en nlist celdas; la consulta solo recorre las nprobe celdas más cercanas. Falla si el vecino real cae al otro lado de una frontera; subir nprobe lo corrige. HNSW es un grafo en capas: arriba saltos largos, abajo todos los nodos; búsqueda voraz con efSearch candidatos, costo logarítmico. Resultados: exacta 57,6 ms. IVF nlist 4096, nprobe 16: recall 0,98 en 0,48 ms, 120 veces más rápido. HNSW gana a latencia muy baja —0,95 en 0,14 ms— pero se estanca en 0,98: los miles de vectores idénticos de las reconvocatorias crean mesetas donde la búsqueda voraz se atasca. Elegimos IVF.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ALEKSANDER (≈1 min 30 s). Este es el hallazgo más importante de la Parte III. Medimos contra el TF-IDF disperso exacto: incluso con 256 dimensiones, LSA solo recupera el 33 % de los 10 vecinos reales. Las descripciones son cortas y el vocabulario enorme; la SVD conserva temas generales y pierde los detalles. Ningún índice recupera lo que la SVD ya perdió. Por eso P2 se respondió con vecinos exactos del TF-IDF disperso, que a este volumen cuesta 13 ms por consulta. Respuesta a P2: dos procesos al azar del mismo tipo comparten ganador el 0,02 % de las veces; con texto casi idéntico, el 15 %. Y entre entidades distintas aún el 10 %. Dos lecturas: mercado especializado con pocos oferentes, o TDR copiados que reproducen al ganador. Sirve para priorizar auditorías.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ALEKSANDER (≈2 min). Spark ordena por fecha los 885 mil procesos y sus 8 millones de postulaciones y calcula la verdad exacta; las tres estructuras las implementamos desde cero y procesan el flujo en una sola pasada. Bloom: '¿este RUC ya postuló antes?'. Sin falsos negativos; el error es un proveedor nuevo marcado como ya visto, justo la alerta que importa. Con 8 bits por clave ocupa 0,67 MB, 100 veces menos que el set, y pierde 0,41 % de las alertas. Ojo: en Python es más lento que el set nativo; la ganancia es de memoria. Count-Min: 512 KB contra 86 MB; recupera el 100 % del top 20, error 3 % en el top 100. Para la cola larga es inútil: convierte un 1 en 153. Responde '¿quién domina?', no '¿cuántas veces postuló este pequeño?'. DGIM: procesos de más de un millón en el último mes; error de 4 a 11 % con el 2 % de la memoria. Honestamente, a este volumen la ventana exacta de un año ocupa 6 KB: DGIM es para otra escala.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ALEKSANDER (≈1 min 30 s). Transacción: cada proceso es una canasta y sus ítems son los RUC postores. Descartamos proceso→códigos de ítem porque solo el 3,7 % tiene dos o más códigos. Preprocesamiento: colapsamos 35 100 reconvocatorias que detectó LSH y quitamos canastas de 1 postor o de más de 40 —compras masivas donde coincidir no es una elección—. Quedan 618 mil canastas. Apriori propio sobre RDD y FP-Growth de MLlib dan exactamente los mismos conjuntos y soportes en 2023: eso valida la implementación. Apriori tardó 484 s llegando a tamaño 4; FP-Growth 26 s sin tope. FP-Growth comprime en un árbol de prefijos y no genera candidatos. Sobre todo el periodo: 585 mil conjuntos frecuentes, porque un grupo de 14 RUC genera 2^14 subconjuntos. Por eso analizamos los 183 mil maximales: cada grupo se cuenta una vez.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ALEKSANDER (≈2 min). 'Gana el grupo' solo no dice nada: si 11 de 12 postores son del grupo, ganar el 92 % es lo esperable. Por eso comparamos con la tasa esperada al azar. Patrón 1: 157 de las 300 camarillas mayores son grupos de 9 a 11 proveedores de bienes que concurren en 15 a 31 sedes del Poder Judicial y ganan, en mediana, el 83 % frente al 36 % esperado; hasta 97 %. Es el patrón más consistente del dataset. Lectura alternativa: un rubro con pocos proveedores reales. Patrón 2, las reglas: P0205→P0206, confianza 0,81, lift 60, 4 406 procesos en 913 entidades, y no ganan nunca. Una pareja que se presenta a 4 400 procesos y no gana ninguno no compite: la tabla de postores incluye participantes registrados que no ofertan. Es un hallazgo de calidad de datos como el de 2015. Lift aquí separa poco —todas las reglas tienen lift ≫ 1—; ordenan la confianza y el soporte. En el reporte web están las ocho reglas comentadas.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ALEKSANDER (≈1 min 30 s). Resumen de la Parte VI. Valor por técnica: EDA alto, porque el quiebre de 2015 cambió el diseño; MinHash/LSH alto, respondió P1 y destapó las reconvocatorias; FP-Growth alto; Bloom y Count-Min medio, porque hoy el exacto cabe en memoria; ANN medio-bajo por la pérdida de LSA; DGIM bajo a esta escala; Apriori didáctico. La lección transversal: la aproximación del algoritmo casi nunca fue el problema; la de la representación sí. LSA perdió dos tercios de los vecinos, más que cualquier índice. Medir contra la verdad exacta en cada paso fue lo que nos permitió verlo.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ALEKSANDER (≈1 min 30 s). Spark valió la pena en la ingesta, las representaciones con joins de 10 millones de filas, el EDA, el TF-IDF, el LSH a escala y FP-Growth. No hacía falta en los sketches —son secuenciales por definición y la idea es que quepan en una máquina—, en FAISS ni en las figuras. Y el overhead se notó: RDD 58× más lento, firmas MinHash en SQL 37 minutos, una ventana rowsBetween que era O(n·N). A 10× o 100×: la fuerza bruta pasa de 49 días a 13 o 1 300 años, LSH sigue lineal. HNSW deja de caber en una máquina: IVF-PQ. Y aquí está el argumento a favor de los sketches: el set exacto crece con los distintos, Count-Min y DGIM casi no cambian. A 100×, DGIM pasa de curiosidad a necesidad.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CÉSAR (≈1 min). Con datos abiertos y herramientas estándar, un ciudadano, un periodista o una oficina de control puede priorizar qué revisar entre millones de procesos. Pero los mismos resultados pueden estigmatizar: un RUC que empieza con 10 es una persona natural, y un falso positivo o una regla con lift alto puede tener explicación legítima. Por eso publicamos etiquetas anónimas, P0001, damos siempre la lectura alternativa y no calificamos conductas. Y la calidad: el quiebre de 2015 y los registros pasivos muestran que un dato público mal entendido produce conclusiones espectaculares y falsas. El SEACE además no cubre compras menores a 8 UIT.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AMBOS (≈2 min). CÉSAR maneja el reporte web: (1) curva S de LSH moviendo b y r; (2) Bloom variando bits por clave; (3) filtros de reglas por soporte, confianza y lift. Arquitectura 'calcular una vez, explorar muchas': Spark corre offline y la página solo lee artefactos; lo que se recalcula en vivo son las fórmulas analíticas. ALEKSANDER muestra el código: el MinHash en Spark SQL sin UDF (script 10), el Apriori por niveles con reduceByKey (script 14) y el Bloom propio (script 13). Cada script indica en su cabecera qué corre en Spark y qué en local, y por qué; todo se reproduce con ejecutar_todo.py.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CÉSAR (≈1 min). Cerramos con las respuestas. P1: sí, en dos escalas; LSH encuentra parejas pequeñas que nunca se separan y FP-Growth grupos grandes; la red del Poder Judicial gana 83 % frente a 36 % esperado. P2: el 98 % de los casi-duplicados son reconvocatorias, pero el texto casi idéntico anticipa al ganador: 15 % frente a 0,02 %. P3: sí se puede vigilar con memoria acotada: Bloom 100 veces más chico pierde 0,41 % de alertas. Y la conclusión metodológica: los algoritmos aproximados casi nunca fueron el problema; la representación y la calidad del dato sí. Gracias; quedamos atentos a sus preguntas.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chart" Target="../charts/chart5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chart" Target="../charts/char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chart" Target="../charts/char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B9BEC6"/>
                </a:solidFill>
                <a:latin typeface="Calibri"/>
              </a:rPr>
              <a:t>Proyecto Integrador 1 · Minería de Datos Masivos · 2026-2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641908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B9BEC6"/>
                </a:solidFill>
                <a:latin typeface="Calibri"/>
              </a:rPr>
              <a:t>1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822960"/>
            <a:ext cx="868680" cy="868680"/>
          </a:xfrm>
          <a:prstGeom prst="ellipse">
            <a:avLst/>
          </a:prstGeom>
          <a:solidFill>
            <a:srgbClr val="C21F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OCDS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105156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800" b="1" i="0">
                <a:solidFill>
                  <a:srgbClr val="FFFFFF"/>
                </a:solidFill>
                <a:latin typeface="Cambria"/>
              </a:rPr>
              <a:t>Quién compite, quién se repite y cómo vigilarlo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2900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B9BEC6"/>
                </a:solidFill>
                <a:latin typeface="Calibri"/>
              </a:rPr>
              <a:t>Minería de 2,76 millones de contrataciones públicas del Perú con Spark, MinHash/LSH, ANN, sketches de flujo y reglas de asociación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0060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César Pajuelo · Aleksander Paico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B9BEC6"/>
                </a:solidFill>
                <a:latin typeface="Calibri"/>
              </a:rPr>
              <a:t>Proyecto Integrador 1 · Minería de Datos Masivos y Flujos de Datos · Prof. Heider Sánchez · 2026-2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548640" y="429768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C1F24"/>
                </a:solidFill>
                <a:latin typeface="Cambria"/>
              </a:rPr>
              <a:t>Tres preguntas que apuntan a decisiones de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068"/>
                </a:solidFill>
                <a:latin typeface="Calibri"/>
              </a:rPr>
              <a:t>Proyecto Integrador 1 · Minería de Datos Masivos · 2026-2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41908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068"/>
                </a:solidFill>
                <a:latin typeface="Calibri"/>
              </a:rP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3520440" cy="4526280"/>
          </a:xfrm>
          <a:prstGeom prst="roundRect">
            <a:avLst>
              <a:gd name="adj" fmla="val 8000"/>
            </a:avLst>
          </a:prstGeom>
          <a:solidFill>
            <a:srgbClr val="EE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59" y="1737360"/>
            <a:ext cx="685800" cy="685800"/>
          </a:xfrm>
          <a:prstGeom prst="ellipse">
            <a:avLst/>
          </a:prstGeom>
          <a:solidFill>
            <a:srgbClr val="C21F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P1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651760"/>
            <a:ext cx="29718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C1F24"/>
                </a:solidFill>
                <a:latin typeface="Cambria"/>
              </a:rPr>
              <a:t>¿Hay grupos de proveedores que concurren sistemáticamente a los mismos procesos?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434340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C21F32"/>
                </a:solidFill>
                <a:latin typeface="Calibri"/>
              </a:rPr>
              <a:t>Competencia aparente vs. real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4846320"/>
            <a:ext cx="2971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5B6068"/>
                </a:solidFill>
                <a:latin typeface="Calibri"/>
              </a:rPr>
              <a:t>Técnicas: </a:t>
            </a:r>
            <a:r>
              <a:rPr sz="1400" b="0" i="0">
                <a:solidFill>
                  <a:srgbClr val="5B6068"/>
                </a:solidFill>
                <a:latin typeface="Calibri"/>
              </a:rPr>
              <a:t>MinHash + LSH · FP-Growth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79" y="1463040"/>
            <a:ext cx="3520440" cy="4526280"/>
          </a:xfrm>
          <a:prstGeom prst="roundRect">
            <a:avLst>
              <a:gd name="adj" fmla="val 8000"/>
            </a:avLst>
          </a:prstGeom>
          <a:solidFill>
            <a:srgbClr val="EE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71999" y="1737360"/>
            <a:ext cx="685800" cy="685800"/>
          </a:xfrm>
          <a:prstGeom prst="ellipse">
            <a:avLst/>
          </a:prstGeom>
          <a:solidFill>
            <a:srgbClr val="C21F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P2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1999" y="2651760"/>
            <a:ext cx="29718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C1F24"/>
                </a:solidFill>
                <a:latin typeface="Cambria"/>
              </a:rPr>
              <a:t>¿Los procesos con especificaciones casi idénticas terminan con los mismos ganadores?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1999" y="434340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C21F32"/>
                </a:solidFill>
                <a:latin typeface="Calibri"/>
              </a:rPr>
              <a:t>Estandarización vs. TDR copiados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1999" y="4846320"/>
            <a:ext cx="2971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5B6068"/>
                </a:solidFill>
                <a:latin typeface="Calibri"/>
              </a:rPr>
              <a:t>Técnicas: </a:t>
            </a:r>
            <a:r>
              <a:rPr sz="1400" b="0" i="0">
                <a:solidFill>
                  <a:srgbClr val="5B6068"/>
                </a:solidFill>
                <a:latin typeface="Calibri"/>
              </a:rPr>
              <a:t>Shingling + LSH · TF-IDF + IVF/HNSW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1463040"/>
            <a:ext cx="3520440" cy="4526280"/>
          </a:xfrm>
          <a:prstGeom prst="roundRect">
            <a:avLst>
              <a:gd name="adj" fmla="val 8000"/>
            </a:avLst>
          </a:prstGeom>
          <a:solidFill>
            <a:srgbClr val="EE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21040" y="1737360"/>
            <a:ext cx="685800" cy="685800"/>
          </a:xfrm>
          <a:prstGeom prst="ellipse">
            <a:avLst/>
          </a:prstGeom>
          <a:solidFill>
            <a:srgbClr val="C21F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P3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651760"/>
            <a:ext cx="297180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C1F24"/>
                </a:solidFill>
                <a:latin typeface="Cambria"/>
              </a:rPr>
              <a:t>¿Se puede vigilar el flujo en una pasada y con memoria acotada sin perder alertas?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434340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C21F32"/>
                </a:solidFill>
                <a:latin typeface="Calibri"/>
              </a:rPr>
              <a:t>Monitoreo continuo y barato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4846320"/>
            <a:ext cx="2971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5B6068"/>
                </a:solidFill>
                <a:latin typeface="Calibri"/>
              </a:rPr>
              <a:t>Técnicas: </a:t>
            </a:r>
            <a:r>
              <a:rPr sz="1400" b="0" i="0">
                <a:solidFill>
                  <a:srgbClr val="5B6068"/>
                </a:solidFill>
                <a:latin typeface="Calibri"/>
              </a:rPr>
              <a:t>Bloom · Count-Min · DGIM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548640" y="429768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C1F24"/>
                </a:solidFill>
                <a:latin typeface="Cambria"/>
              </a:rPr>
              <a:t>Por qué OCDS: la única fuente que cumple los cuatro requisitos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068"/>
                </a:solidFill>
                <a:latin typeface="Calibri"/>
              </a:rPr>
              <a:t>Proyecto Integrador 1 · Minería de Datos Masivos · 2026-2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41908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068"/>
                </a:solidFill>
                <a:latin typeface="Calibri"/>
              </a:rP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2651760" cy="1417320"/>
          </a:xfrm>
          <a:prstGeom prst="roundRect">
            <a:avLst>
              <a:gd name="adj" fmla="val 8000"/>
            </a:avLst>
          </a:prstGeom>
          <a:solidFill>
            <a:srgbClr val="EE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27632"/>
            <a:ext cx="21945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C21F32"/>
                </a:solidFill>
                <a:latin typeface="Cambria"/>
              </a:rPr>
              <a:t>2,76 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18512"/>
            <a:ext cx="21945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B6068"/>
                </a:solidFill>
                <a:latin typeface="Calibri"/>
              </a:rPr>
              <a:t>procesos de contratación, 2003 – oct.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463040"/>
            <a:ext cx="2651760" cy="1417320"/>
          </a:xfrm>
          <a:prstGeom prst="roundRect">
            <a:avLst>
              <a:gd name="adj" fmla="val 8000"/>
            </a:avLst>
          </a:prstGeom>
          <a:solidFill>
            <a:srgbClr val="EE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1627632"/>
            <a:ext cx="21945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C21F32"/>
                </a:solidFill>
                <a:latin typeface="Cambria"/>
              </a:rPr>
              <a:t>46,5 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318512"/>
            <a:ext cx="21945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B6068"/>
                </a:solidFill>
                <a:latin typeface="Calibri"/>
              </a:rPr>
              <a:t>filas en 12 tablas · 17 GB CSV → 2,6 GB Parquet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063240"/>
            <a:ext cx="2651760" cy="1417320"/>
          </a:xfrm>
          <a:prstGeom prst="roundRect">
            <a:avLst>
              <a:gd name="adj" fmla="val 8000"/>
            </a:avLst>
          </a:prstGeom>
          <a:solidFill>
            <a:srgbClr val="EE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227832"/>
            <a:ext cx="21945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C21F32"/>
                </a:solidFill>
                <a:latin typeface="Cambria"/>
              </a:rPr>
              <a:t>885 mil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918712"/>
            <a:ext cx="21945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B6068"/>
                </a:solidFill>
                <a:latin typeface="Calibri"/>
              </a:rPr>
              <a:t>procesos en la ventana analítica 2015-2026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83280" y="3063240"/>
            <a:ext cx="2651760" cy="1417320"/>
          </a:xfrm>
          <a:prstGeom prst="roundRect">
            <a:avLst>
              <a:gd name="adj" fmla="val 8000"/>
            </a:avLst>
          </a:prstGeom>
          <a:solidFill>
            <a:srgbClr val="EE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80" y="3227832"/>
            <a:ext cx="21945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C21F32"/>
                </a:solidFill>
                <a:latin typeface="Cambria"/>
              </a:rPr>
              <a:t>8 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3918712"/>
            <a:ext cx="21945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B6068"/>
                </a:solidFill>
                <a:latin typeface="Calibri"/>
              </a:rPr>
              <a:t>postulaciones (proceso × RUC) en 2015-2026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754880"/>
            <a:ext cx="5486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5B6068"/>
                </a:solidFill>
                <a:latin typeface="Calibri"/>
              </a:rPr>
              <a:t>Fuente: </a:t>
            </a:r>
            <a:r>
              <a:rPr sz="1300" b="0" i="0">
                <a:solidFill>
                  <a:srgbClr val="5B6068"/>
                </a:solidFill>
                <a:latin typeface="Calibri"/>
              </a:rPr>
              <a:t>OECE (ex OSCE), Contrataciones Abiertas OCDS, vía OCP Data Registry (publicación 135), colección del 04/10/2026. Licencia CC BY 4.0.</a:t>
            </a:r>
          </a:p>
        </p:txBody>
      </p:sp>
      <p:sp>
        <p:nvSpPr>
          <p:cNvPr id="18" name="Oval 17"/>
          <p:cNvSpPr/>
          <p:nvPr/>
        </p:nvSpPr>
        <p:spPr>
          <a:xfrm>
            <a:off x="6492240" y="1618488"/>
            <a:ext cx="548640" cy="548640"/>
          </a:xfrm>
          <a:prstGeom prst="ellipse">
            <a:avLst/>
          </a:prstGeom>
          <a:solidFill>
            <a:srgbClr val="0E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1508760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C1F24"/>
                </a:solidFill>
                <a:latin typeface="Cambria"/>
              </a:rPr>
              <a:t>Volumen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1920240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B6068"/>
                </a:solidFill>
                <a:latin typeface="Calibri"/>
              </a:rPr>
              <a:t>17 GB y tablas de 12,8 M filas: justifica Spark</a:t>
            </a:r>
          </a:p>
        </p:txBody>
      </p:sp>
      <p:sp>
        <p:nvSpPr>
          <p:cNvPr id="21" name="Oval 20"/>
          <p:cNvSpPr/>
          <p:nvPr/>
        </p:nvSpPr>
        <p:spPr>
          <a:xfrm>
            <a:off x="6492240" y="2779776"/>
            <a:ext cx="548640" cy="548640"/>
          </a:xfrm>
          <a:prstGeom prst="ellipse">
            <a:avLst/>
          </a:prstGeom>
          <a:solidFill>
            <a:srgbClr val="0E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2670048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C1F24"/>
                </a:solidFill>
                <a:latin typeface="Cambria"/>
              </a:rPr>
              <a:t>Conjuntos / vectores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3081528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B6068"/>
                </a:solidFill>
                <a:latin typeface="Calibri"/>
              </a:rPr>
              <a:t>Texto libre por proceso, RUC por postor</a:t>
            </a:r>
          </a:p>
        </p:txBody>
      </p:sp>
      <p:sp>
        <p:nvSpPr>
          <p:cNvPr id="24" name="Oval 23"/>
          <p:cNvSpPr/>
          <p:nvPr/>
        </p:nvSpPr>
        <p:spPr>
          <a:xfrm>
            <a:off x="6492240" y="3941064"/>
            <a:ext cx="548640" cy="548640"/>
          </a:xfrm>
          <a:prstGeom prst="ellipse">
            <a:avLst/>
          </a:prstGeom>
          <a:solidFill>
            <a:srgbClr val="0E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9480" y="3831336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C1F24"/>
                </a:solidFill>
                <a:latin typeface="Cambria"/>
              </a:rPr>
              <a:t>Dimensión temporal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4242816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B6068"/>
                </a:solidFill>
                <a:latin typeface="Calibri"/>
              </a:rPr>
              <a:t>tender_datePublished al minuto, sin nulos</a:t>
            </a:r>
          </a:p>
        </p:txBody>
      </p:sp>
      <p:sp>
        <p:nvSpPr>
          <p:cNvPr id="27" name="Oval 26"/>
          <p:cNvSpPr/>
          <p:nvPr/>
        </p:nvSpPr>
        <p:spPr>
          <a:xfrm>
            <a:off x="6492240" y="5102352"/>
            <a:ext cx="548640" cy="548640"/>
          </a:xfrm>
          <a:prstGeom prst="ellipse">
            <a:avLst/>
          </a:prstGeom>
          <a:solidFill>
            <a:srgbClr val="0E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4992624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C1F24"/>
                </a:solidFill>
                <a:latin typeface="Cambria"/>
              </a:rPr>
              <a:t>Canasta de ítems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80" y="5404104"/>
            <a:ext cx="43891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B6068"/>
                </a:solidFill>
                <a:latin typeface="Calibri"/>
              </a:rPr>
              <a:t>Proceso → postores: 9,4 RUC de media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21F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I</a:t>
            </a:r>
          </a:p>
        </p:txBody>
      </p:sp>
      <p:sp>
        <p:nvSpPr>
          <p:cNvPr id="3" name="Titulo"/>
          <p:cNvSpPr txBox="1"/>
          <p:nvPr/>
        </p:nvSpPr>
        <p:spPr>
          <a:xfrm>
            <a:off x="1298448" y="429768"/>
            <a:ext cx="1034460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C1F24"/>
                </a:solidFill>
                <a:latin typeface="Cambria"/>
              </a:rPr>
              <a:t>El proceso KDD, con las decisiones que lo cambiaron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068"/>
                </a:solidFill>
                <a:latin typeface="Calibri"/>
              </a:rPr>
              <a:t>Proyecto Integrador 1 · Minería de Datos Masivos · 2026-2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1908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068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2084831" cy="2926080"/>
          </a:xfrm>
          <a:prstGeom prst="roundRect">
            <a:avLst>
              <a:gd name="adj" fmla="val 8000"/>
            </a:avLst>
          </a:prstGeom>
          <a:solidFill>
            <a:srgbClr val="EE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77240" y="1828800"/>
            <a:ext cx="548640" cy="548640"/>
          </a:xfrm>
          <a:prstGeom prst="ellipse">
            <a:avLst/>
          </a:prstGeom>
          <a:solidFill>
            <a:srgbClr val="C21F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6032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C1F24"/>
                </a:solidFill>
                <a:latin typeface="Cambria"/>
              </a:rPr>
              <a:t>Selección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63240"/>
            <a:ext cx="16916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B6068"/>
                </a:solidFill>
                <a:latin typeface="Calibri"/>
              </a:rPr>
              <a:t>6 fuentes evaluadas; OCDS, 12 de 21 tablas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51760" y="2926080"/>
            <a:ext cx="146304" cy="274320"/>
          </a:xfrm>
          <a:prstGeom prst="rightArrow">
            <a:avLst/>
          </a:prstGeom>
          <a:solidFill>
            <a:srgbClr val="B9B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16352" y="1600200"/>
            <a:ext cx="2084831" cy="2926080"/>
          </a:xfrm>
          <a:prstGeom prst="roundRect">
            <a:avLst>
              <a:gd name="adj" fmla="val 8000"/>
            </a:avLst>
          </a:prstGeom>
          <a:solidFill>
            <a:srgbClr val="EE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044952" y="1828800"/>
            <a:ext cx="548640" cy="548640"/>
          </a:xfrm>
          <a:prstGeom prst="ellipse">
            <a:avLst/>
          </a:prstGeom>
          <a:solidFill>
            <a:srgbClr val="C21F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4952" y="256032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C1F24"/>
                </a:solidFill>
                <a:latin typeface="Cambria"/>
              </a:rPr>
              <a:t>Preprocesamiento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44952" y="3063240"/>
            <a:ext cx="16916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B6068"/>
                </a:solidFill>
                <a:latin typeface="Calibri"/>
              </a:rPr>
              <a:t>5 esquemas → unionByName; 52 603 montos ≤ 0 fuera; postores recalculados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919472" y="2926080"/>
            <a:ext cx="146304" cy="274320"/>
          </a:xfrm>
          <a:prstGeom prst="rightArrow">
            <a:avLst/>
          </a:prstGeom>
          <a:solidFill>
            <a:srgbClr val="B9B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84064" y="1600200"/>
            <a:ext cx="2084831" cy="2926080"/>
          </a:xfrm>
          <a:prstGeom prst="roundRect">
            <a:avLst>
              <a:gd name="adj" fmla="val 8000"/>
            </a:avLst>
          </a:prstGeom>
          <a:solidFill>
            <a:srgbClr val="EE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312664" y="1828800"/>
            <a:ext cx="548640" cy="548640"/>
          </a:xfrm>
          <a:prstGeom prst="ellipse">
            <a:avLst/>
          </a:prstGeom>
          <a:solidFill>
            <a:srgbClr val="C21F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12664" y="256032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C1F24"/>
                </a:solidFill>
                <a:latin typeface="Cambria"/>
              </a:rPr>
              <a:t>Transformación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12664" y="3063240"/>
            <a:ext cx="16916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B6068"/>
                </a:solidFill>
                <a:latin typeface="Calibri"/>
              </a:rPr>
              <a:t>Parquet por año de publicación; shingles, RUC → procesos, canastas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187183" y="2926080"/>
            <a:ext cx="146304" cy="274320"/>
          </a:xfrm>
          <a:prstGeom prst="rightArrow">
            <a:avLst/>
          </a:prstGeom>
          <a:solidFill>
            <a:srgbClr val="B9B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351775" y="1600200"/>
            <a:ext cx="2084831" cy="2926080"/>
          </a:xfrm>
          <a:prstGeom prst="roundRect">
            <a:avLst>
              <a:gd name="adj" fmla="val 8000"/>
            </a:avLst>
          </a:prstGeom>
          <a:solidFill>
            <a:srgbClr val="EE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580375" y="1828800"/>
            <a:ext cx="548640" cy="548640"/>
          </a:xfrm>
          <a:prstGeom prst="ellipse">
            <a:avLst/>
          </a:prstGeom>
          <a:solidFill>
            <a:srgbClr val="0E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0375" y="256032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C1F24"/>
                </a:solidFill>
                <a:latin typeface="Cambria"/>
              </a:rPr>
              <a:t>Minería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0375" y="3063240"/>
            <a:ext cx="16916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B6068"/>
                </a:solidFill>
                <a:latin typeface="Calibri"/>
              </a:rPr>
              <a:t>Partes I a V: Spark donde escala, local donde no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454896" y="2926080"/>
            <a:ext cx="146304" cy="274320"/>
          </a:xfrm>
          <a:prstGeom prst="rightArrow">
            <a:avLst/>
          </a:prstGeom>
          <a:solidFill>
            <a:srgbClr val="B9B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619488" y="1600200"/>
            <a:ext cx="2084831" cy="2926080"/>
          </a:xfrm>
          <a:prstGeom prst="roundRect">
            <a:avLst>
              <a:gd name="adj" fmla="val 8000"/>
            </a:avLst>
          </a:prstGeom>
          <a:solidFill>
            <a:srgbClr val="EE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48088" y="1828800"/>
            <a:ext cx="548640" cy="548640"/>
          </a:xfrm>
          <a:prstGeom prst="ellipse">
            <a:avLst/>
          </a:prstGeom>
          <a:solidFill>
            <a:srgbClr val="0E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48088" y="2560320"/>
            <a:ext cx="1737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C1F24"/>
                </a:solidFill>
                <a:latin typeface="Cambria"/>
              </a:rPr>
              <a:t>Interpretación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48088" y="3063240"/>
            <a:ext cx="16916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B6068"/>
                </a:solidFill>
                <a:latin typeface="Calibri"/>
              </a:rPr>
              <a:t>Reporte web: cada hallazgo con su lectura alternativa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4846320"/>
            <a:ext cx="11091672" cy="1234440"/>
          </a:xfrm>
          <a:prstGeom prst="roundRect">
            <a:avLst>
              <a:gd name="adj" fmla="val 8000"/>
            </a:avLst>
          </a:prstGeom>
          <a:solidFill>
            <a:srgbClr val="1C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4983480"/>
            <a:ext cx="1051560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Verificación: </a:t>
            </a:r>
            <a:r>
              <a:rPr sz="1600" b="0" i="0">
                <a:solidFill>
                  <a:srgbClr val="B9BEC6"/>
                </a:solidFill>
                <a:latin typeface="Calibri"/>
              </a:rPr>
              <a:t>2 760 591 procesos, 10 077 133 postulaciones y 12 837 750 partes coinciden fila a fila con lo que declara el publicador. La ingesta completa (17 GB, 46,5 M filas) toma 5 minutos en Spark.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21F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I</a:t>
            </a:r>
          </a:p>
        </p:txBody>
      </p:sp>
      <p:sp>
        <p:nvSpPr>
          <p:cNvPr id="3" name="Titulo"/>
          <p:cNvSpPr txBox="1"/>
          <p:nvPr/>
        </p:nvSpPr>
        <p:spPr>
          <a:xfrm>
            <a:off x="1298448" y="429768"/>
            <a:ext cx="1034460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C1F24"/>
                </a:solidFill>
                <a:latin typeface="Cambria"/>
              </a:rPr>
              <a:t>El EDA cambió el diseño: el quiebre de 2015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068"/>
                </a:solidFill>
                <a:latin typeface="Calibri"/>
              </a:rPr>
              <a:t>Proyecto Integrador 1 · Minería de Datos Masivos · 2026-2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1908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068"/>
                </a:solidFill>
                <a:latin typeface="Calibri"/>
              </a:rPr>
              <a:t>5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371600"/>
          <a:ext cx="7589520" cy="4846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503920" y="1463040"/>
            <a:ext cx="3136392" cy="1417320"/>
          </a:xfrm>
          <a:prstGeom prst="roundRect">
            <a:avLst>
              <a:gd name="adj" fmla="val 8000"/>
            </a:avLst>
          </a:prstGeom>
          <a:solidFill>
            <a:srgbClr val="EE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32520" y="1627632"/>
            <a:ext cx="267919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C21F32"/>
                </a:solidFill>
                <a:latin typeface="Cambria"/>
              </a:rPr>
              <a:t>1,5 → 14,6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32520" y="2216912"/>
            <a:ext cx="2679192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B6068"/>
                </a:solidFill>
                <a:latin typeface="Calibri"/>
              </a:rPr>
              <a:t>postores por proceso entre 2008 y 2024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3063240"/>
            <a:ext cx="3136392" cy="1417320"/>
          </a:xfrm>
          <a:prstGeom prst="roundRect">
            <a:avLst>
              <a:gd name="adj" fmla="val 8000"/>
            </a:avLst>
          </a:prstGeom>
          <a:solidFill>
            <a:srgbClr val="EE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32520" y="3227832"/>
            <a:ext cx="267919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0E7C74"/>
                </a:solidFill>
                <a:latin typeface="Cambria"/>
              </a:rPr>
              <a:t>81 % → 11 %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3817112"/>
            <a:ext cx="2679192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B6068"/>
                </a:solidFill>
                <a:latin typeface="Calibri"/>
              </a:rPr>
              <a:t>procesos con postor único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4663440"/>
            <a:ext cx="313639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C21F32"/>
                </a:solidFill>
                <a:latin typeface="Calibri"/>
              </a:rPr>
              <a:t>Decisión: </a:t>
            </a:r>
            <a:r>
              <a:rPr sz="1500" b="0" i="0">
                <a:solidFill>
                  <a:srgbClr val="1C1F24"/>
                </a:solidFill>
                <a:latin typeface="Calibri"/>
              </a:rPr>
              <a:t>competencia, montos y co-postulación solo sobre 2015-2026.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21F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I</a:t>
            </a:r>
          </a:p>
        </p:txBody>
      </p:sp>
      <p:sp>
        <p:nvSpPr>
          <p:cNvPr id="3" name="Titulo"/>
          <p:cNvSpPr txBox="1"/>
          <p:nvPr/>
        </p:nvSpPr>
        <p:spPr>
          <a:xfrm>
            <a:off x="1298448" y="429768"/>
            <a:ext cx="1034460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C1F24"/>
                </a:solidFill>
                <a:latin typeface="Cambria"/>
              </a:rPr>
              <a:t>El dinero se concentra en pocas entidades y procesos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068"/>
                </a:solidFill>
                <a:latin typeface="Calibri"/>
              </a:rPr>
              <a:t>Proyecto Integrador 1 · Minería de Datos Masivos · 2026-2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1908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068"/>
                </a:solidFill>
                <a:latin typeface="Calibri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3520440" cy="1920240"/>
          </a:xfrm>
          <a:prstGeom prst="roundRect">
            <a:avLst>
              <a:gd name="adj" fmla="val 8000"/>
            </a:avLst>
          </a:prstGeom>
          <a:solidFill>
            <a:srgbClr val="EE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3063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C21F32"/>
                </a:solidFill>
                <a:latin typeface="Cambria"/>
              </a:rPr>
              <a:t>1 % → 40,6 %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42312"/>
            <a:ext cx="30632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B6068"/>
                </a:solidFill>
                <a:latin typeface="Calibri"/>
              </a:rPr>
              <a:t>de las 3 163 entidades concentra el 40,6 % del monto; el 10 % llega al 76,9 %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4256" y="1463040"/>
            <a:ext cx="3520440" cy="1920240"/>
          </a:xfrm>
          <a:prstGeom prst="roundRect">
            <a:avLst>
              <a:gd name="adj" fmla="val 8000"/>
            </a:avLst>
          </a:prstGeom>
          <a:solidFill>
            <a:srgbClr val="EE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62856" y="1627632"/>
            <a:ext cx="3063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C21F32"/>
                </a:solidFill>
                <a:latin typeface="Cambria"/>
              </a:rPr>
              <a:t>1,6 % → 58 %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2856" y="2242312"/>
            <a:ext cx="30632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B6068"/>
                </a:solidFill>
                <a:latin typeface="Calibri"/>
              </a:rPr>
              <a:t>de los procesos (≥ S/ 10 M) mueve el 58 % de los S/ 996 mil M convocados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2" y="1463040"/>
            <a:ext cx="3520440" cy="1920240"/>
          </a:xfrm>
          <a:prstGeom prst="roundRect">
            <a:avLst>
              <a:gd name="adj" fmla="val 8000"/>
            </a:avLst>
          </a:prstGeom>
          <a:solidFill>
            <a:srgbClr val="EE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48472" y="1627632"/>
            <a:ext cx="3063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 i="0">
                <a:solidFill>
                  <a:srgbClr val="0E7C74"/>
                </a:solidFill>
                <a:latin typeface="Cambria"/>
              </a:rPr>
              <a:t>7× / 2,6×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8472" y="2242312"/>
            <a:ext cx="30632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B6068"/>
                </a:solidFill>
                <a:latin typeface="Calibri"/>
              </a:rPr>
              <a:t>la licitación pública: 7 veces menos procesos que la adjudicación simplificada y 2,6 veces más dinero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703320"/>
            <a:ext cx="11091672" cy="2377440"/>
          </a:xfrm>
          <a:prstGeom prst="roundRect">
            <a:avLst>
              <a:gd name="adj" fmla="val 8000"/>
            </a:avLst>
          </a:prstGeom>
          <a:solidFill>
            <a:srgbClr val="EE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931920"/>
            <a:ext cx="104241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1C1F24"/>
                </a:solidFill>
                <a:latin typeface="Cambria"/>
              </a:rPr>
              <a:t>Por qué importa para las preguntas</a:t>
            </a:r>
          </a:p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1C1F24"/>
                </a:solidFill>
                <a:latin typeface="Calibri"/>
              </a:rPr>
              <a:t>Montos en 9 órdenes de magnitud </a:t>
            </a:r>
            <a:r>
              <a:rPr sz="1500" b="0" i="0">
                <a:solidFill>
                  <a:srgbClr val="1C1F24"/>
                </a:solidFill>
                <a:latin typeface="Calibri"/>
              </a:rPr>
              <a:t>(mediana S/ 144 mil, p99 S/ 14,6 M, máx. S/ 3 035 M): el promedio engaña y se trabaja en escala logarítmica.</a:t>
            </a:r>
          </a:p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1C1F24"/>
                </a:solidFill>
                <a:latin typeface="Calibri"/>
              </a:rPr>
              <a:t>Heavy hitters: </a:t>
            </a:r>
            <a:r>
              <a:rPr sz="1500" b="0" i="0">
                <a:solidFill>
                  <a:srgbClr val="1C1F24"/>
                </a:solidFill>
                <a:latin typeface="Calibri"/>
              </a:rPr>
              <a:t>un puñado de entidades explica el grueso del riesgo monetario; es justo el caso de uso del Count-Min Sketch (P3).</a:t>
            </a:r>
          </a:p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1C1F24"/>
                </a:solidFill>
                <a:latin typeface="Calibri"/>
              </a:rPr>
              <a:t>Estacionalidad: </a:t>
            </a:r>
            <a:r>
              <a:rPr sz="1500" b="0" i="0">
                <a:solidFill>
                  <a:srgbClr val="1C1F24"/>
                </a:solidFill>
                <a:latin typeface="Calibri"/>
              </a:rPr>
              <a:t>enero tiene 68 % menos procesos por el ciclo presupuestal; un flujo estacional es buen banco de pruebas para DGIM.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21F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I</a:t>
            </a:r>
          </a:p>
        </p:txBody>
      </p:sp>
      <p:sp>
        <p:nvSpPr>
          <p:cNvPr id="3" name="Titulo"/>
          <p:cNvSpPr txBox="1"/>
          <p:nvPr/>
        </p:nvSpPr>
        <p:spPr>
          <a:xfrm>
            <a:off x="1298448" y="429768"/>
            <a:ext cx="1034460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C1F24"/>
                </a:solidFill>
                <a:latin typeface="Cambria"/>
              </a:rPr>
              <a:t>RDD vs DataFrames: mismo resultado, 58 veces más lento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068"/>
                </a:solidFill>
                <a:latin typeface="Calibri"/>
              </a:rPr>
              <a:t>Proyecto Integrador 1 · Minería de Datos Masivos · 2026-2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1908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068"/>
                </a:solidFill>
                <a:latin typeface="Calibri"/>
              </a:rPr>
              <a:t>7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371600"/>
          <a:ext cx="6583680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166360"/>
            <a:ext cx="65836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5B6068"/>
                </a:solidFill>
                <a:latin typeface="Calibri"/>
              </a:rPr>
              <a:t>A: </a:t>
            </a:r>
            <a:r>
              <a:rPr sz="1300" b="0" i="0">
                <a:solidFill>
                  <a:srgbClr val="5B6068"/>
                </a:solidFill>
                <a:latin typeface="Calibri"/>
              </a:rPr>
              <a:t>monto por entidad.  </a:t>
            </a:r>
            <a:r>
              <a:rPr sz="1300" b="1" i="0">
                <a:solidFill>
                  <a:srgbClr val="5B6068"/>
                </a:solidFill>
                <a:latin typeface="Calibri"/>
              </a:rPr>
              <a:t>B: </a:t>
            </a:r>
            <a:r>
              <a:rPr sz="1300" b="0" i="0">
                <a:solidFill>
                  <a:srgbClr val="5B6068"/>
                </a:solidFill>
                <a:latin typeface="Calibri"/>
              </a:rPr>
              <a:t>procesos y monto medio por año y categoría. 830 974 filas en caché.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1463040"/>
            <a:ext cx="4142232" cy="2240280"/>
          </a:xfrm>
          <a:prstGeom prst="roundRect">
            <a:avLst>
              <a:gd name="adj" fmla="val 8000"/>
            </a:avLst>
          </a:prstGeom>
          <a:solidFill>
            <a:srgbClr val="EE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1645920"/>
            <a:ext cx="365760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C1F24"/>
                </a:solidFill>
                <a:latin typeface="Cambria"/>
              </a:rPr>
              <a:t>Por qué la diferencia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C1F24"/>
                </a:solidFill>
                <a:latin typeface="Calibri"/>
              </a:rPr>
              <a:t>Cada fila del RDD viaja JVM → Python → JVM.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C1F24"/>
                </a:solidFill>
                <a:latin typeface="Calibri"/>
              </a:rPr>
              <a:t>El DataFrame no sale de la JVM: Catalyst agrega antes del shuffle, en memoria columnar.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3931920"/>
            <a:ext cx="4142232" cy="2194560"/>
          </a:xfrm>
          <a:prstGeom prst="roundRect">
            <a:avLst>
              <a:gd name="adj" fmla="val 8000"/>
            </a:avLst>
          </a:prstGeom>
          <a:solidFill>
            <a:srgbClr val="1C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4114800"/>
            <a:ext cx="365760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mbria"/>
              </a:rPr>
              <a:t>Particionado por año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B9BEC6"/>
                </a:solidFill>
                <a:latin typeface="Calibri"/>
              </a:rPr>
              <a:t>anio = 2025 → PartitionFilters en el FileScan: lee 1 de 25 directorios.</a:t>
            </a:r>
          </a:p>
          <a:p>
            <a:pPr algn="l">
              <a:spcAft>
                <a:spcPts val="600"/>
              </a:spcAft>
            </a:pPr>
            <a:r>
              <a:rPr sz="2400" b="1" i="0">
                <a:solidFill>
                  <a:srgbClr val="FFFFFF"/>
                </a:solidFill>
                <a:latin typeface="Cambria"/>
              </a:rPr>
              <a:t>0,61 s → 0,15 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21F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II</a:t>
            </a:r>
          </a:p>
        </p:txBody>
      </p:sp>
      <p:sp>
        <p:nvSpPr>
          <p:cNvPr id="3" name="Titulo"/>
          <p:cNvSpPr txBox="1"/>
          <p:nvPr/>
        </p:nvSpPr>
        <p:spPr>
          <a:xfrm>
            <a:off x="1298448" y="429768"/>
            <a:ext cx="1034460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C1F24"/>
                </a:solidFill>
                <a:latin typeface="Cambria"/>
              </a:rPr>
              <a:t>Similitud sin comparar todos los pares: MinHash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068"/>
                </a:solidFill>
                <a:latin typeface="Calibri"/>
              </a:rPr>
              <a:t>Proyecto Integrador 1 · Minería de Datos Masivos · 2026-2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1908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068"/>
                </a:solidFill>
                <a:latin typeface="Calibri"/>
              </a:rP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3291840" cy="1417320"/>
          </a:xfrm>
          <a:prstGeom prst="roundRect">
            <a:avLst>
              <a:gd name="adj" fmla="val 8000"/>
            </a:avLst>
          </a:prstGeom>
          <a:solidFill>
            <a:srgbClr val="EE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28346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C21F32"/>
                </a:solidFill>
                <a:latin typeface="Cambria"/>
              </a:rPr>
              <a:t>≈ 49 días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67712"/>
            <a:ext cx="28346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B6068"/>
                </a:solidFill>
                <a:latin typeface="Calibri"/>
              </a:rPr>
              <a:t>fuerza bruta extrapolada a 882 895 procesos (21,9 s para 2 000)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063240"/>
            <a:ext cx="3291840" cy="1417320"/>
          </a:xfrm>
          <a:prstGeom prst="roundRect">
            <a:avLst>
              <a:gd name="adj" fmla="val 8000"/>
            </a:avLst>
          </a:prstGeom>
          <a:solidFill>
            <a:srgbClr val="EE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227832"/>
            <a:ext cx="28346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0E7C74"/>
                </a:solidFill>
                <a:latin typeface="Cambria"/>
              </a:rPr>
              <a:t>10 / millón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867912"/>
            <a:ext cx="28346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B6068"/>
                </a:solidFill>
                <a:latin typeface="Calibri"/>
              </a:rPr>
              <a:t>densidad de pares con Jaccard ≥ 0,6: casi todo par comparado es inútil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709160"/>
            <a:ext cx="32918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5B6068"/>
                </a:solidFill>
                <a:latin typeface="Calibri"/>
              </a:rPr>
              <a:t>Representación: </a:t>
            </a:r>
            <a:r>
              <a:rPr sz="1300" b="0" i="0">
                <a:solidFill>
                  <a:srgbClr val="5B6068"/>
                </a:solidFill>
                <a:latin typeface="Calibri"/>
              </a:rPr>
              <a:t>shingles de 5 caracteres (174 por proceso). Hash: (a·x + b) mod (2³¹−1) en Spark SQL, sin UDF.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4206240" y="1371600"/>
          <a:ext cx="7434072" cy="4846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21F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II</a:t>
            </a:r>
          </a:p>
        </p:txBody>
      </p:sp>
      <p:sp>
        <p:nvSpPr>
          <p:cNvPr id="3" name="Titulo"/>
          <p:cNvSpPr txBox="1"/>
          <p:nvPr/>
        </p:nvSpPr>
        <p:spPr>
          <a:xfrm>
            <a:off x="1298448" y="429768"/>
            <a:ext cx="1034460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C1F24"/>
                </a:solidFill>
                <a:latin typeface="Cambria"/>
              </a:rPr>
              <a:t>LSH: bandas y filas deciden qué pares se pierden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068"/>
                </a:solidFill>
                <a:latin typeface="Calibri"/>
              </a:rPr>
              <a:t>Proyecto Integrador 1 · Minería de Datos Masivos · 2026-2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1908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068"/>
                </a:solidFill>
                <a:latin typeface="Calibri"/>
              </a:rPr>
              <a:t>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63040"/>
          <a:ext cx="69494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1005840"/>
                <a:gridCol w="1325880"/>
                <a:gridCol w="1234440"/>
                <a:gridCol w="1234440"/>
                <a:gridCol w="109728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b × r</a:t>
                      </a:r>
                    </a:p>
                  </a:txBody>
                  <a:tcPr anchor="ctr">
                    <a:solidFill>
                      <a:srgbClr val="1C1F2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Umbral</a:t>
                      </a:r>
                    </a:p>
                  </a:txBody>
                  <a:tcPr anchor="ctr">
                    <a:solidFill>
                      <a:srgbClr val="1C1F2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Candidatos</a:t>
                      </a:r>
                    </a:p>
                  </a:txBody>
                  <a:tcPr anchor="ctr">
                    <a:solidFill>
                      <a:srgbClr val="1C1F2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Falsos pos.</a:t>
                      </a:r>
                    </a:p>
                  </a:txBody>
                  <a:tcPr anchor="ctr">
                    <a:solidFill>
                      <a:srgbClr val="1C1F2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Falsos neg.</a:t>
                      </a:r>
                    </a:p>
                  </a:txBody>
                  <a:tcPr anchor="ctr">
                    <a:solidFill>
                      <a:srgbClr val="1C1F2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 anchor="ctr">
                    <a:solidFill>
                      <a:srgbClr val="1C1F24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C1F24"/>
                          </a:solidFill>
                          <a:latin typeface="Calibri"/>
                        </a:rPr>
                        <a:t>128 × 2</a:t>
                      </a:r>
                    </a:p>
                  </a:txBody>
                  <a:tcPr anchor="ctr"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C1F24"/>
                          </a:solidFill>
                          <a:latin typeface="Calibri"/>
                        </a:rPr>
                        <a:t>0,09</a:t>
                      </a:r>
                    </a:p>
                  </a:txBody>
                  <a:tcPr anchor="ctr"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C1F24"/>
                          </a:solidFill>
                          <a:latin typeface="Calibri"/>
                        </a:rPr>
                        <a:t>577 491</a:t>
                      </a:r>
                    </a:p>
                  </a:txBody>
                  <a:tcPr anchor="ctr"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C1F24"/>
                          </a:solidFill>
                          <a:latin typeface="Calibri"/>
                        </a:rPr>
                        <a:t>577 471</a:t>
                      </a:r>
                    </a:p>
                  </a:txBody>
                  <a:tcPr anchor="ctr"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C1F2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C1F24"/>
                          </a:solidFill>
                          <a:latin typeface="Calibri"/>
                        </a:rPr>
                        <a:t>100 %</a:t>
                      </a:r>
                    </a:p>
                  </a:txBody>
                  <a:tcPr anchor="ctr">
                    <a:solidFill>
                      <a:srgbClr val="EEF0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C1F24"/>
                          </a:solidFill>
                          <a:latin typeface="Calibri"/>
                        </a:rPr>
                        <a:t>64 × 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C1F24"/>
                          </a:solidFill>
                          <a:latin typeface="Calibri"/>
                        </a:rPr>
                        <a:t>0,35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C1F24"/>
                          </a:solidFill>
                          <a:latin typeface="Calibri"/>
                        </a:rPr>
                        <a:t>9 253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C1F24"/>
                          </a:solidFill>
                          <a:latin typeface="Calibri"/>
                        </a:rPr>
                        <a:t>9 233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C1F2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C1F24"/>
                          </a:solidFill>
                          <a:latin typeface="Calibri"/>
                        </a:rPr>
                        <a:t>100 %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32 × 8</a:t>
                      </a:r>
                    </a:p>
                  </a:txBody>
                  <a:tcPr anchor="ctr">
                    <a:solidFill>
                      <a:srgbClr val="C21F3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0,65</a:t>
                      </a:r>
                    </a:p>
                  </a:txBody>
                  <a:tcPr anchor="ctr">
                    <a:solidFill>
                      <a:srgbClr val="C21F3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37</a:t>
                      </a:r>
                    </a:p>
                  </a:txBody>
                  <a:tcPr anchor="ctr">
                    <a:solidFill>
                      <a:srgbClr val="C21F3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anchor="ctr">
                    <a:solidFill>
                      <a:srgbClr val="C21F3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C21F3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85 %</a:t>
                      </a:r>
                    </a:p>
                  </a:txBody>
                  <a:tcPr anchor="ctr">
                    <a:solidFill>
                      <a:srgbClr val="C21F3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C1F24"/>
                          </a:solidFill>
                          <a:latin typeface="Calibri"/>
                        </a:rPr>
                        <a:t>16 × 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C1F24"/>
                          </a:solidFill>
                          <a:latin typeface="Calibri"/>
                        </a:rPr>
                        <a:t>0,84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C1F2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C1F2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C1F24"/>
                          </a:solidFill>
                          <a:latin typeface="Calibri"/>
                        </a:rPr>
                        <a:t>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C1F24"/>
                          </a:solidFill>
                          <a:latin typeface="Calibri"/>
                        </a:rPr>
                        <a:t>10 %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C1F24"/>
                          </a:solidFill>
                          <a:latin typeface="Calibri"/>
                        </a:rPr>
                        <a:t>8 × 32</a:t>
                      </a:r>
                    </a:p>
                  </a:txBody>
                  <a:tcPr anchor="ctr"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C1F24"/>
                          </a:solidFill>
                          <a:latin typeface="Calibri"/>
                        </a:rPr>
                        <a:t>0,94</a:t>
                      </a:r>
                    </a:p>
                  </a:txBody>
                  <a:tcPr anchor="ctr"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C1F2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C1F2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C1F24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anchor="ctr"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C1F24"/>
                          </a:solidFill>
                          <a:latin typeface="Calibri"/>
                        </a:rPr>
                        <a:t>5 %</a:t>
                      </a:r>
                    </a:p>
                  </a:txBody>
                  <a:tcPr anchor="ctr">
                    <a:solidFill>
                      <a:srgbClr val="EEF0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C1F24"/>
                          </a:solidFill>
                          <a:latin typeface="Calibri"/>
                        </a:rPr>
                        <a:t>4 × 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C1F24"/>
                          </a:solidFill>
                          <a:latin typeface="Calibri"/>
                        </a:rPr>
                        <a:t>0,98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C1F2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C1F24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C1F24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0">
                          <a:solidFill>
                            <a:srgbClr val="1C1F24"/>
                          </a:solidFill>
                          <a:latin typeface="Calibri"/>
                        </a:rPr>
                        <a:t>5 %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486400"/>
            <a:ext cx="69494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B6068"/>
                </a:solidFill>
                <a:latin typeface="Calibri"/>
              </a:rPr>
              <a:t>Muestra de 2 000 procesos, 20 pares reales con Jaccard ≥ 0,6. En rojo, el punto de operación elegido.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63840" y="1463040"/>
            <a:ext cx="3776472" cy="2103120"/>
          </a:xfrm>
          <a:prstGeom prst="roundRect">
            <a:avLst>
              <a:gd name="adj" fmla="val 8000"/>
            </a:avLst>
          </a:prstGeom>
          <a:solidFill>
            <a:srgbClr val="EE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38160" y="1645920"/>
            <a:ext cx="32918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C1F24"/>
                </a:solidFill>
                <a:latin typeface="Cambria"/>
              </a:rPr>
              <a:t>Umbral efectivo</a:t>
            </a:r>
          </a:p>
          <a:p>
            <a:pPr algn="l">
              <a:spcAft>
                <a:spcPts val="600"/>
              </a:spcAft>
            </a:pPr>
            <a:r>
              <a:rPr sz="2200" b="0" i="0">
                <a:solidFill>
                  <a:srgbClr val="1C1F24"/>
                </a:solidFill>
                <a:latin typeface="Cambria"/>
              </a:rPr>
              <a:t>s* ≈ (1/b)^(1/r)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C1F24"/>
                </a:solidFill>
                <a:latin typeface="Calibri"/>
              </a:rPr>
              <a:t>b = 32, r = 8 → 0,65: 85 % de recall con solo 37 candidatos.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3794760"/>
            <a:ext cx="3776472" cy="2331720"/>
          </a:xfrm>
          <a:prstGeom prst="roundRect">
            <a:avLst>
              <a:gd name="adj" fmla="val 8000"/>
            </a:avLst>
          </a:prstGeom>
          <a:solidFill>
            <a:srgbClr val="1C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3977639"/>
            <a:ext cx="32918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mbria"/>
              </a:rPr>
              <a:t>MLlib no escaló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B9BEC6"/>
                </a:solidFill>
                <a:latin typeface="Calibri"/>
              </a:rPr>
              <a:t>MinHashLSH usa r = 1: umbral 1/b. Con 8 tablas, Jaccard 0,125 ya es candidato. Volcó &gt; 11 GB a disco y no terminó.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21F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II</a:t>
            </a:r>
          </a:p>
        </p:txBody>
      </p:sp>
      <p:sp>
        <p:nvSpPr>
          <p:cNvPr id="3" name="Titulo"/>
          <p:cNvSpPr txBox="1"/>
          <p:nvPr/>
        </p:nvSpPr>
        <p:spPr>
          <a:xfrm>
            <a:off x="1298448" y="429768"/>
            <a:ext cx="1034460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C1F24"/>
                </a:solidFill>
                <a:latin typeface="Cambria"/>
              </a:rPr>
              <a:t>LSH a escala: reconvocatorias y un grupo inseparable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068"/>
                </a:solidFill>
                <a:latin typeface="Calibri"/>
              </a:rPr>
              <a:t>Proyecto Integrador 1 · Minería de Datos Masivos · 2026-2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1908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068"/>
                </a:solidFill>
                <a:latin typeface="Calibri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3520440" cy="1691640"/>
          </a:xfrm>
          <a:prstGeom prst="roundRect">
            <a:avLst>
              <a:gd name="adj" fmla="val 8000"/>
            </a:avLst>
          </a:prstGeom>
          <a:solidFill>
            <a:srgbClr val="EE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3063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 i="0">
                <a:solidFill>
                  <a:srgbClr val="C21F32"/>
                </a:solidFill>
                <a:latin typeface="Cambria"/>
              </a:rPr>
              <a:t>589 224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93112"/>
            <a:ext cx="3063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B6068"/>
                </a:solidFill>
                <a:latin typeface="Calibri"/>
              </a:rPr>
              <a:t>pares de procesos con Jaccard ≥ 0,8 (4,2 M candidatos, 0,001 % de los pares)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383280"/>
            <a:ext cx="3520440" cy="1691640"/>
          </a:xfrm>
          <a:prstGeom prst="roundRect">
            <a:avLst>
              <a:gd name="adj" fmla="val 8000"/>
            </a:avLst>
          </a:prstGeom>
          <a:solidFill>
            <a:srgbClr val="EE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547872"/>
            <a:ext cx="3063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 i="0">
                <a:solidFill>
                  <a:srgbClr val="0E7C74"/>
                </a:solidFill>
                <a:latin typeface="Cambria"/>
              </a:rPr>
              <a:t>98,1 %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213352"/>
            <a:ext cx="3063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B6068"/>
                </a:solidFill>
                <a:latin typeface="Calibri"/>
              </a:rPr>
              <a:t>de la misma entidad: son reconvocatorias, no copias entre entidades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303520"/>
            <a:ext cx="3520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B6068"/>
                </a:solidFill>
                <a:latin typeface="Calibri"/>
              </a:rPr>
              <a:t>Firmas 37 min + LSH y verificación 4 min, en Spark.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463040"/>
            <a:ext cx="7205472" cy="4663440"/>
          </a:xfrm>
          <a:prstGeom prst="roundRect">
            <a:avLst>
              <a:gd name="adj" fmla="val 8000"/>
            </a:avLst>
          </a:prstGeom>
          <a:solidFill>
            <a:srgbClr val="1C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1691640"/>
            <a:ext cx="64922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mbria"/>
              </a:rPr>
              <a:t>P1 · Proveedores como conjunto de procesos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0" y="2377440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2 275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2468880"/>
            <a:ext cx="4389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B9BEC6"/>
                </a:solidFill>
                <a:latin typeface="Calibri"/>
              </a:rPr>
              <a:t>pares con Jaccard ≥ 0,5 entre 68 381 proveedores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00600" y="3291840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2 338 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3383280"/>
            <a:ext cx="4389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B9BEC6"/>
                </a:solidFill>
                <a:latin typeface="Calibri"/>
              </a:rPr>
              <a:t>comparaciones evitadas; resuelto en 54 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0600" y="4206240"/>
            <a:ext cx="21031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4 RUC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4297679"/>
            <a:ext cx="43891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B9BEC6"/>
                </a:solidFill>
                <a:latin typeface="Calibri"/>
              </a:rPr>
              <a:t>en exactamente los mismos 37 procesos (Jaccard 1,000)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5166360"/>
            <a:ext cx="6492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Lectura: </a:t>
            </a:r>
            <a:r>
              <a:rPr sz="1400" b="0" i="0">
                <a:solidFill>
                  <a:srgbClr val="B9BEC6"/>
                </a:solidFill>
                <a:latin typeface="Calibri"/>
              </a:rPr>
              <a:t>consorcio, empresas vinculadas o mercado local muy pequeño. Es una pista que justifica mirar, no una conclusión.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21F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III</a:t>
            </a:r>
          </a:p>
        </p:txBody>
      </p:sp>
      <p:sp>
        <p:nvSpPr>
          <p:cNvPr id="3" name="Titulo"/>
          <p:cNvSpPr txBox="1"/>
          <p:nvPr/>
        </p:nvSpPr>
        <p:spPr>
          <a:xfrm>
            <a:off x="1298448" y="429768"/>
            <a:ext cx="1034460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C1F24"/>
                </a:solidFill>
                <a:latin typeface="Cambria"/>
              </a:rPr>
              <a:t>IVF y HNSW: de 120 a 420 veces más rápidos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068"/>
                </a:solidFill>
                <a:latin typeface="Calibri"/>
              </a:rPr>
              <a:t>Proyecto Integrador 1 · Minería de Datos Masivos · 2026-2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1908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068"/>
                </a:solidFill>
                <a:latin typeface="Calibri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3931920" cy="2240280"/>
          </a:xfrm>
          <a:prstGeom prst="roundRect">
            <a:avLst>
              <a:gd name="adj" fmla="val 8000"/>
            </a:avLst>
          </a:prstGeom>
          <a:solidFill>
            <a:srgbClr val="EE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347472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C21F32"/>
                </a:solidFill>
                <a:latin typeface="Cambria"/>
              </a:rPr>
              <a:t>IVF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C1F24"/>
                </a:solidFill>
                <a:latin typeface="Calibri"/>
              </a:rPr>
              <a:t>k-means en nlist celdas; la consulta recorre solo las nprobe más cercanas. Más nprobe = más recall y más tiempo.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886200"/>
            <a:ext cx="3931920" cy="2240280"/>
          </a:xfrm>
          <a:prstGeom prst="roundRect">
            <a:avLst>
              <a:gd name="adj" fmla="val 8000"/>
            </a:avLst>
          </a:prstGeom>
          <a:solidFill>
            <a:srgbClr val="EE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069080"/>
            <a:ext cx="347472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0E7C74"/>
                </a:solidFill>
                <a:latin typeface="Cambria"/>
              </a:rPr>
              <a:t>HNSW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1C1F24"/>
                </a:solidFill>
                <a:latin typeface="Calibri"/>
              </a:rPr>
              <a:t>Grafo en capas con M vecinos por nodo; búsqueda voraz con efSearch candidatos. Costo logarítmico; usa más memoria.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4754880" y="1371600"/>
          <a:ext cx="6885432" cy="4846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21F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III</a:t>
            </a:r>
          </a:p>
        </p:txBody>
      </p:sp>
      <p:sp>
        <p:nvSpPr>
          <p:cNvPr id="3" name="Titulo"/>
          <p:cNvSpPr txBox="1"/>
          <p:nvPr/>
        </p:nvSpPr>
        <p:spPr>
          <a:xfrm>
            <a:off x="1298448" y="429768"/>
            <a:ext cx="1034460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C1F24"/>
                </a:solidFill>
                <a:latin typeface="Cambria"/>
              </a:rPr>
              <a:t>La pérdida real estaba en la representación, no en el índice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068"/>
                </a:solidFill>
                <a:latin typeface="Calibri"/>
              </a:rPr>
              <a:t>Proyecto Integrador 1 · Minería de Datos Masivos · 2026-2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1908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068"/>
                </a:solidFill>
                <a:latin typeface="Calibri"/>
              </a:rPr>
              <a:t>12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371600"/>
          <a:ext cx="5852160" cy="4846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766560" y="1463040"/>
            <a:ext cx="4873752" cy="4663440"/>
          </a:xfrm>
          <a:prstGeom prst="roundRect">
            <a:avLst>
              <a:gd name="adj" fmla="val 8000"/>
            </a:avLst>
          </a:prstGeom>
          <a:solidFill>
            <a:srgbClr val="1C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86600" y="169164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mbria"/>
              </a:rPr>
              <a:t>P2 · ¿Texto casi igual, mismo ganador?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86600" y="2377440"/>
            <a:ext cx="1737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B9BEC6"/>
                </a:solidFill>
                <a:latin typeface="Cambria"/>
              </a:rPr>
              <a:t>0,02 %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15400" y="242316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B9BEC6"/>
                </a:solidFill>
                <a:latin typeface="Calibri"/>
              </a:rPr>
              <a:t>dos procesos al azar del mismo tipo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3337560"/>
            <a:ext cx="1737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15 %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5400" y="338328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B9BEC6"/>
                </a:solidFill>
                <a:latin typeface="Calibri"/>
              </a:rPr>
              <a:t>con texto casi idéntico (coseno ≥ 0,95)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4297680"/>
            <a:ext cx="1737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 i="0">
                <a:solidFill>
                  <a:srgbClr val="FFFFFF"/>
                </a:solidFill>
                <a:latin typeface="Cambria"/>
              </a:rPr>
              <a:t>10 %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4343400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B9BEC6"/>
                </a:solidFill>
                <a:latin typeface="Calibri"/>
              </a:rPr>
              <a:t>aun entre entidades distintas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5257800"/>
            <a:ext cx="429768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Lectura: </a:t>
            </a:r>
            <a:r>
              <a:rPr sz="1400" b="0" i="0">
                <a:solidFill>
                  <a:srgbClr val="B9BEC6"/>
                </a:solidFill>
                <a:latin typeface="Calibri"/>
              </a:rPr>
              <a:t>mercados especializados o TDR copiados que reproducen al ganador. Prioriza auditorías.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21F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IV</a:t>
            </a:r>
          </a:p>
        </p:txBody>
      </p:sp>
      <p:sp>
        <p:nvSpPr>
          <p:cNvPr id="3" name="Titulo"/>
          <p:cNvSpPr txBox="1"/>
          <p:nvPr/>
        </p:nvSpPr>
        <p:spPr>
          <a:xfrm>
            <a:off x="1298448" y="429768"/>
            <a:ext cx="1034460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C1F24"/>
                </a:solidFill>
                <a:latin typeface="Cambria"/>
              </a:rPr>
              <a:t>Flujos: memoria ahorrada frente a alertas perdidas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068"/>
                </a:solidFill>
                <a:latin typeface="Calibri"/>
              </a:rPr>
              <a:t>Proyecto Integrador 1 · Minería de Datos Masivos · 2026-2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1908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068"/>
                </a:solidFill>
                <a:latin typeface="Calibri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3520440" cy="4663440"/>
          </a:xfrm>
          <a:prstGeom prst="roundRect">
            <a:avLst>
              <a:gd name="adj" fmla="val 8000"/>
            </a:avLst>
          </a:prstGeom>
          <a:solidFill>
            <a:srgbClr val="EE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9164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 i="0">
                <a:solidFill>
                  <a:srgbClr val="C21F32"/>
                </a:solidFill>
                <a:latin typeface="Cambria"/>
              </a:rPr>
              <a:t>Bloom Filter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19456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B6068"/>
                </a:solidFill>
                <a:latin typeface="Calibri"/>
              </a:rPr>
              <a:t>¿Este RUC ya postuló antes?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97180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C21F32"/>
                </a:solidFill>
                <a:latin typeface="Cambria"/>
              </a:rPr>
              <a:t>100×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79476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C1F24"/>
                </a:solidFill>
                <a:latin typeface="Calibri"/>
              </a:rPr>
              <a:t>menos memoria: 0,67 MB vs 69,6 MB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4572000"/>
            <a:ext cx="30175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068"/>
                </a:solidFill>
                <a:latin typeface="Calibri"/>
              </a:rPr>
              <a:t>0,41 % de proveedores nuevos no alertados (2 900 de 705 mil). Cero falsos negativos.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79" y="1463040"/>
            <a:ext cx="3520440" cy="4663440"/>
          </a:xfrm>
          <a:prstGeom prst="roundRect">
            <a:avLst>
              <a:gd name="adj" fmla="val 8000"/>
            </a:avLst>
          </a:prstGeom>
          <a:solidFill>
            <a:srgbClr val="EE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1999" y="169164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 i="0">
                <a:solidFill>
                  <a:srgbClr val="0E7C74"/>
                </a:solidFill>
                <a:latin typeface="Cambria"/>
              </a:rPr>
              <a:t>Count-Min Sketch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1999" y="219456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B6068"/>
                </a:solidFill>
                <a:latin typeface="Calibri"/>
              </a:rPr>
              <a:t>¿Quién domina el flujo?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1999" y="297180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0E7C74"/>
                </a:solidFill>
                <a:latin typeface="Cambria"/>
              </a:rPr>
              <a:t>100 %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1999" y="379476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C1F24"/>
                </a:solidFill>
                <a:latin typeface="Calibri"/>
              </a:rPr>
              <a:t>del top 20 recuperado con 512 KB (vs 85,8 MB)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1999" y="4572000"/>
            <a:ext cx="30175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068"/>
                </a:solidFill>
                <a:latin typeface="Calibri"/>
              </a:rPr>
              <a:t>Error 3 % en el top 100; inútil en la cola larga (un 1 se vuelve 153).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19" y="1463040"/>
            <a:ext cx="3520440" cy="4663440"/>
          </a:xfrm>
          <a:prstGeom prst="roundRect">
            <a:avLst>
              <a:gd name="adj" fmla="val 8000"/>
            </a:avLst>
          </a:prstGeom>
          <a:solidFill>
            <a:srgbClr val="EE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169164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 i="0">
                <a:solidFill>
                  <a:srgbClr val="1C1F24"/>
                </a:solidFill>
                <a:latin typeface="Cambria"/>
              </a:rPr>
              <a:t>DGIM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19456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5B6068"/>
                </a:solidFill>
                <a:latin typeface="Calibri"/>
              </a:rPr>
              <a:t>¿Cuántos procesos ≥ S/ 1 M hubo el último mes?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97180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1C1F24"/>
                </a:solidFill>
                <a:latin typeface="Cambria"/>
              </a:rPr>
              <a:t>4-11 %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379476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C1F24"/>
                </a:solidFill>
                <a:latin typeface="Calibri"/>
              </a:rPr>
              <a:t>de error con el 2 % de la memoria de la ventana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4572000"/>
            <a:ext cx="30175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068"/>
                </a:solidFill>
                <a:latin typeface="Calibri"/>
              </a:rPr>
              <a:t>Memoria crece con log N. A este volumen la ventana exacta de un año pesa 6 KB.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21F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V</a:t>
            </a:r>
          </a:p>
        </p:txBody>
      </p:sp>
      <p:sp>
        <p:nvSpPr>
          <p:cNvPr id="3" name="Titulo"/>
          <p:cNvSpPr txBox="1"/>
          <p:nvPr/>
        </p:nvSpPr>
        <p:spPr>
          <a:xfrm>
            <a:off x="1298448" y="429768"/>
            <a:ext cx="1034460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C1F24"/>
                </a:solidFill>
                <a:latin typeface="Cambria"/>
              </a:rPr>
              <a:t>Apriori valida a FP-Growth; FP-Growth hace el trabajo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068"/>
                </a:solidFill>
                <a:latin typeface="Calibri"/>
              </a:rPr>
              <a:t>Proyecto Integrador 1 · Minería de Datos Masivos · 2026-2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1908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068"/>
                </a:solidFill>
                <a:latin typeface="Calibri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3520440" cy="1417320"/>
          </a:xfrm>
          <a:prstGeom prst="roundRect">
            <a:avLst>
              <a:gd name="adj" fmla="val 8000"/>
            </a:avLst>
          </a:prstGeom>
          <a:solidFill>
            <a:srgbClr val="EE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27632"/>
            <a:ext cx="3063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C21F32"/>
                </a:solidFill>
                <a:latin typeface="Cambria"/>
              </a:rPr>
              <a:t>484 s vs 26 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16912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B6068"/>
                </a:solidFill>
                <a:latin typeface="Calibri"/>
              </a:rPr>
              <a:t>Apriori (RDD, hasta tamaño 4) vs FP-Growth (MLlib, sin tope) en 2023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063240"/>
            <a:ext cx="3520440" cy="1417320"/>
          </a:xfrm>
          <a:prstGeom prst="roundRect">
            <a:avLst>
              <a:gd name="adj" fmla="val 8000"/>
            </a:avLst>
          </a:prstGeom>
          <a:solidFill>
            <a:srgbClr val="EE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227832"/>
            <a:ext cx="30632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 i="0">
                <a:solidFill>
                  <a:srgbClr val="0E7C74"/>
                </a:solidFill>
                <a:latin typeface="Cambria"/>
              </a:rPr>
              <a:t>Idénticos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817112"/>
            <a:ext cx="30632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5B6068"/>
                </a:solidFill>
                <a:latin typeface="Calibri"/>
              </a:rPr>
              <a:t>125 689 conjuntos con los mismos soportes, nivel por nivel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709160"/>
            <a:ext cx="352044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 i="0">
                <a:solidFill>
                  <a:srgbClr val="5B6068"/>
                </a:solidFill>
                <a:latin typeface="Calibri"/>
              </a:rPr>
              <a:t>Canasta: </a:t>
            </a:r>
            <a:r>
              <a:rPr sz="1300" b="0" i="0">
                <a:solidFill>
                  <a:srgbClr val="5B6068"/>
                </a:solidFill>
                <a:latin typeface="Calibri"/>
              </a:rPr>
              <a:t>proceso → RUC postores. 618 440 canastas tras colapsar 35 100 reconvocatorias y quitar las de 1 o &gt; 40 postores.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4434840" y="1371600"/>
          <a:ext cx="7205472" cy="48463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21F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V</a:t>
            </a:r>
          </a:p>
        </p:txBody>
      </p:sp>
      <p:sp>
        <p:nvSpPr>
          <p:cNvPr id="3" name="Titulo"/>
          <p:cNvSpPr txBox="1"/>
          <p:nvPr/>
        </p:nvSpPr>
        <p:spPr>
          <a:xfrm>
            <a:off x="1298448" y="429768"/>
            <a:ext cx="1034460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C1F24"/>
                </a:solidFill>
                <a:latin typeface="Cambria"/>
              </a:rPr>
              <a:t>Grupos que ganan de más y parejas que nunca ganan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068"/>
                </a:solidFill>
                <a:latin typeface="Calibri"/>
              </a:rPr>
              <a:t>Proyecto Integrador 1 · Minería de Datos Masivos · 2026-2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1908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068"/>
                </a:solidFill>
                <a:latin typeface="Calibri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486400" cy="4663440"/>
          </a:xfrm>
          <a:prstGeom prst="roundRect">
            <a:avLst>
              <a:gd name="adj" fmla="val 8000"/>
            </a:avLst>
          </a:prstGeom>
          <a:solidFill>
            <a:srgbClr val="1C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FFFFFF"/>
                </a:solidFill>
                <a:latin typeface="Cambria"/>
              </a:rPr>
              <a:t>Red de proveedores del Poder Judicial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94560"/>
            <a:ext cx="4846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B9BEC6"/>
                </a:solidFill>
                <a:latin typeface="Calibri"/>
              </a:rPr>
              <a:t>157 de las 300 camarillas mayores · grupos de 9-11 RUC · bienes · 15-31 sedes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68680" y="2880360"/>
          <a:ext cx="4846320" cy="2103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68680" y="5120640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Alternativa: </a:t>
            </a:r>
            <a:r>
              <a:rPr sz="1400" b="0" i="0">
                <a:solidFill>
                  <a:srgbClr val="B9BEC6"/>
                </a:solidFill>
                <a:latin typeface="Calibri"/>
              </a:rPr>
              <a:t>un rubro con pocos proveedores reales. Distinguirlo exige revisar ofertas y precios.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463040"/>
            <a:ext cx="5239512" cy="4663440"/>
          </a:xfrm>
          <a:prstGeom prst="roundRect">
            <a:avLst>
              <a:gd name="adj" fmla="val 8000"/>
            </a:avLst>
          </a:prstGeom>
          <a:solidFill>
            <a:srgbClr val="EE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169164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C1F24"/>
                </a:solidFill>
                <a:latin typeface="Cambria"/>
              </a:rPr>
              <a:t>Reglas: parejas que nunca ganan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2240280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C21F32"/>
                </a:solidFill>
                <a:latin typeface="Cambria"/>
              </a:rPr>
              <a:t>P0205 → P0206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2834640"/>
            <a:ext cx="46634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C1F24"/>
                </a:solidFill>
                <a:latin typeface="Calibri"/>
              </a:rPr>
              <a:t>confianza 0,81 · lift 60 · 4 406 procesos en 913 entidades · gana 0 % (esperado 15 %)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3794760"/>
            <a:ext cx="46634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1C1F24"/>
                </a:solidFill>
                <a:latin typeface="Calibri"/>
              </a:rPr>
              <a:t>Interpretación: </a:t>
            </a:r>
            <a:r>
              <a:rPr sz="1400" b="0" i="0">
                <a:solidFill>
                  <a:srgbClr val="1C1F24"/>
                </a:solidFill>
                <a:latin typeface="Calibri"/>
              </a:rPr>
              <a:t>la tabla de postores incluye participantes registrados que no presentan oferta. Es un hallazgo de calidad de datos: «postor» mide interés registrado, no necesariamente competencia.</a:t>
            </a:r>
          </a:p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068"/>
                </a:solidFill>
                <a:latin typeface="Calibri"/>
              </a:rPr>
              <a:t>Lift ≫ 1 en todas las reglas (25 a 1 700): ordenan la confianza y el soporte.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21F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VI</a:t>
            </a:r>
          </a:p>
        </p:txBody>
      </p:sp>
      <p:sp>
        <p:nvSpPr>
          <p:cNvPr id="3" name="Titulo"/>
          <p:cNvSpPr txBox="1"/>
          <p:nvPr/>
        </p:nvSpPr>
        <p:spPr>
          <a:xfrm>
            <a:off x="1298448" y="429768"/>
            <a:ext cx="1034460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C1F24"/>
                </a:solidFill>
                <a:latin typeface="Cambria"/>
              </a:rPr>
              <a:t>¿Cuánto se pierde al aproximar, y vale la pena?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068"/>
                </a:solidFill>
                <a:latin typeface="Calibri"/>
              </a:rPr>
              <a:t>Proyecto Integrador 1 · Minería de Datos Masivos · 2026-2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1908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068"/>
                </a:solidFill>
                <a:latin typeface="Calibri"/>
              </a:rPr>
              <a:t>16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17320"/>
          <a:ext cx="74980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103120"/>
                <a:gridCol w="2011680"/>
                <a:gridCol w="1371600"/>
              </a:tblGrid>
              <a:tr h="5257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Método</a:t>
                      </a:r>
                    </a:p>
                  </a:txBody>
                  <a:tcPr anchor="ctr">
                    <a:solidFill>
                      <a:srgbClr val="1C1F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Pérdida medida</a:t>
                      </a:r>
                    </a:p>
                  </a:txBody>
                  <a:tcPr anchor="ctr">
                    <a:solidFill>
                      <a:srgbClr val="1C1F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Ganancia</a:t>
                      </a:r>
                    </a:p>
                  </a:txBody>
                  <a:tcPr anchor="ctr">
                    <a:solidFill>
                      <a:srgbClr val="1C1F2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¿Vale?</a:t>
                      </a:r>
                    </a:p>
                  </a:txBody>
                  <a:tcPr anchor="ctr">
                    <a:solidFill>
                      <a:srgbClr val="1C1F24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C1F24"/>
                          </a:solidFill>
                          <a:latin typeface="Calibri"/>
                        </a:rPr>
                        <a:t>MinHash T=128</a:t>
                      </a:r>
                    </a:p>
                  </a:txBody>
                  <a:tcPr anchor="ctr"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C1F24"/>
                          </a:solidFill>
                          <a:latin typeface="Calibri"/>
                        </a:rPr>
                        <a:t>RMSE 0,020</a:t>
                      </a:r>
                    </a:p>
                  </a:txBody>
                  <a:tcPr anchor="ctr"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C1F24"/>
                          </a:solidFill>
                          <a:latin typeface="Calibri"/>
                        </a:rPr>
                        <a:t>Firma fija de 512 B</a:t>
                      </a:r>
                    </a:p>
                  </a:txBody>
                  <a:tcPr anchor="ctr"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E7C74"/>
                          </a:solidFill>
                          <a:latin typeface="Calibri"/>
                        </a:rPr>
                        <a:t>Sí</a:t>
                      </a:r>
                    </a:p>
                  </a:txBody>
                  <a:tcPr anchor="ctr">
                    <a:solidFill>
                      <a:srgbClr val="EEF0F2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C1F24"/>
                          </a:solidFill>
                          <a:latin typeface="Calibri"/>
                        </a:rPr>
                        <a:t>LSH b=32, r=8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C1F24"/>
                          </a:solidFill>
                          <a:latin typeface="Calibri"/>
                        </a:rPr>
                        <a:t>15 % de pares perdidos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C1F24"/>
                          </a:solidFill>
                          <a:latin typeface="Calibri"/>
                        </a:rPr>
                        <a:t>49 días → 4 min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E7C74"/>
                          </a:solidFill>
                          <a:latin typeface="Calibri"/>
                        </a:rPr>
                        <a:t>Sí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C1F24"/>
                          </a:solidFill>
                          <a:latin typeface="Calibri"/>
                        </a:rPr>
                        <a:t>LSA 256 dims</a:t>
                      </a:r>
                    </a:p>
                  </a:txBody>
                  <a:tcPr anchor="ctr"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C1F24"/>
                          </a:solidFill>
                          <a:latin typeface="Calibri"/>
                        </a:rPr>
                        <a:t>67 % de los vecinos reales</a:t>
                      </a:r>
                    </a:p>
                  </a:txBody>
                  <a:tcPr anchor="ctr"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C1F24"/>
                          </a:solidFill>
                          <a:latin typeface="Calibri"/>
                        </a:rPr>
                        <a:t>Vectores indexables</a:t>
                      </a:r>
                    </a:p>
                  </a:txBody>
                  <a:tcPr anchor="ctr"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C21F32"/>
                          </a:solidFill>
                          <a:latin typeface="Calibri"/>
                        </a:rPr>
                        <a:t>No para P2</a:t>
                      </a:r>
                    </a:p>
                  </a:txBody>
                  <a:tcPr anchor="ctr">
                    <a:solidFill>
                      <a:srgbClr val="EEF0F2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C1F24"/>
                          </a:solidFill>
                          <a:latin typeface="Calibri"/>
                        </a:rPr>
                        <a:t>IVF / HNSW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C1F24"/>
                          </a:solidFill>
                          <a:latin typeface="Calibri"/>
                        </a:rPr>
                        <a:t>1-5 % de recall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C1F24"/>
                          </a:solidFill>
                          <a:latin typeface="Calibri"/>
                        </a:rPr>
                        <a:t>80 a 420× más rápido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E7C74"/>
                          </a:solidFill>
                          <a:latin typeface="Calibri"/>
                        </a:rPr>
                        <a:t>Sí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C1F24"/>
                          </a:solidFill>
                          <a:latin typeface="Calibri"/>
                        </a:rPr>
                        <a:t>Bloom 8 bits/clave</a:t>
                      </a:r>
                    </a:p>
                  </a:txBody>
                  <a:tcPr anchor="ctr"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C1F24"/>
                          </a:solidFill>
                          <a:latin typeface="Calibri"/>
                        </a:rPr>
                        <a:t>0,41 % de alertas</a:t>
                      </a:r>
                    </a:p>
                  </a:txBody>
                  <a:tcPr anchor="ctr"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C1F24"/>
                          </a:solidFill>
                          <a:latin typeface="Calibri"/>
                        </a:rPr>
                        <a:t>100× menos memoria</a:t>
                      </a:r>
                    </a:p>
                  </a:txBody>
                  <a:tcPr anchor="ctr"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E7C74"/>
                          </a:solidFill>
                          <a:latin typeface="Calibri"/>
                        </a:rPr>
                        <a:t>Sí (monitor)</a:t>
                      </a:r>
                    </a:p>
                  </a:txBody>
                  <a:tcPr anchor="ctr">
                    <a:solidFill>
                      <a:srgbClr val="EEF0F2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C1F24"/>
                          </a:solidFill>
                          <a:latin typeface="Calibri"/>
                        </a:rPr>
                        <a:t>Count-Min 512 KB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C1F24"/>
                          </a:solidFill>
                          <a:latin typeface="Calibri"/>
                        </a:rPr>
                        <a:t>3 % en el top 100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C1F24"/>
                          </a:solidFill>
                          <a:latin typeface="Calibri"/>
                        </a:rPr>
                        <a:t>170× menos memoria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5B6068"/>
                          </a:solidFill>
                          <a:latin typeface="Calibri"/>
                        </a:rPr>
                        <a:t>Solo para el top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C1F24"/>
                          </a:solidFill>
                          <a:latin typeface="Calibri"/>
                        </a:rPr>
                        <a:t>DGIM r=5</a:t>
                      </a:r>
                    </a:p>
                  </a:txBody>
                  <a:tcPr anchor="ctr"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C1F24"/>
                          </a:solidFill>
                          <a:latin typeface="Calibri"/>
                        </a:rPr>
                        <a:t>4 % de error</a:t>
                      </a:r>
                    </a:p>
                  </a:txBody>
                  <a:tcPr anchor="ctr"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C1F24"/>
                          </a:solidFill>
                          <a:latin typeface="Calibri"/>
                        </a:rPr>
                        <a:t>2 % de la memoria</a:t>
                      </a:r>
                    </a:p>
                  </a:txBody>
                  <a:tcPr anchor="ctr"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5B6068"/>
                          </a:solidFill>
                          <a:latin typeface="Calibri"/>
                        </a:rPr>
                        <a:t>A gran escala</a:t>
                      </a:r>
                    </a:p>
                  </a:txBody>
                  <a:tcPr anchor="ctr">
                    <a:solidFill>
                      <a:srgbClr val="EEF0F2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412480" y="1463040"/>
            <a:ext cx="3227832" cy="4663440"/>
          </a:xfrm>
          <a:prstGeom prst="roundRect">
            <a:avLst>
              <a:gd name="adj" fmla="val 8000"/>
            </a:avLst>
          </a:prstGeom>
          <a:solidFill>
            <a:srgbClr val="1C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1691640"/>
            <a:ext cx="2743200" cy="4297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 b="1" i="0">
                <a:solidFill>
                  <a:srgbClr val="FFFFFF"/>
                </a:solidFill>
                <a:latin typeface="Cambria"/>
              </a:rPr>
              <a:t>La lección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B9BEC6"/>
                </a:solidFill>
                <a:latin typeface="Calibri"/>
              </a:rPr>
              <a:t>La aproximación del </a:t>
            </a:r>
            <a:r>
              <a:rPr sz="1600" b="1" i="0">
                <a:solidFill>
                  <a:srgbClr val="FFFFFF"/>
                </a:solidFill>
                <a:latin typeface="Calibri"/>
              </a:rPr>
              <a:t>algoritmo</a:t>
            </a:r>
            <a:r>
              <a:rPr sz="1600" b="0" i="0">
                <a:solidFill>
                  <a:srgbClr val="B9BEC6"/>
                </a:solidFill>
                <a:latin typeface="Calibri"/>
              </a:rPr>
              <a:t> casi nunca fue el problema; la de la </a:t>
            </a:r>
            <a:r>
              <a:rPr sz="1600" b="1" i="0">
                <a:solidFill>
                  <a:srgbClr val="FFFFFF"/>
                </a:solidFill>
                <a:latin typeface="Calibri"/>
              </a:rPr>
              <a:t>representación</a:t>
            </a:r>
            <a:r>
              <a:rPr sz="1600" b="0" i="0">
                <a:solidFill>
                  <a:srgbClr val="B9BEC6"/>
                </a:solidFill>
                <a:latin typeface="Calibri"/>
              </a:rPr>
              <a:t> sí.</a:t>
            </a:r>
          </a:p>
          <a:p>
            <a:pPr algn="l">
              <a:spcAft>
                <a:spcPts val="1200"/>
              </a:spcAft>
            </a:pPr>
            <a:r>
              <a:rPr sz="1600" b="0" i="0">
                <a:solidFill>
                  <a:srgbClr val="B9BEC6"/>
                </a:solidFill>
                <a:latin typeface="Calibri"/>
              </a:rPr>
              <a:t>Medir contra la verdad exacta en cada paso fue lo que permitió verlo.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21F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VI</a:t>
            </a:r>
          </a:p>
        </p:txBody>
      </p:sp>
      <p:sp>
        <p:nvSpPr>
          <p:cNvPr id="3" name="Titulo"/>
          <p:cNvSpPr txBox="1"/>
          <p:nvPr/>
        </p:nvSpPr>
        <p:spPr>
          <a:xfrm>
            <a:off x="1298448" y="429768"/>
            <a:ext cx="1034460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C1F24"/>
                </a:solidFill>
                <a:latin typeface="Cambria"/>
              </a:rPr>
              <a:t>Spark donde escala, local donde no; y a 10× o 100×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068"/>
                </a:solidFill>
                <a:latin typeface="Calibri"/>
              </a:rPr>
              <a:t>Proyecto Integrador 1 · Minería de Datos Masivos · 2026-2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1908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068"/>
                </a:solidFill>
                <a:latin typeface="Calibri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3520440" cy="3520440"/>
          </a:xfrm>
          <a:prstGeom prst="roundRect">
            <a:avLst>
              <a:gd name="adj" fmla="val 8000"/>
            </a:avLst>
          </a:prstGeom>
          <a:solidFill>
            <a:srgbClr val="EE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9164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 i="0">
                <a:solidFill>
                  <a:srgbClr val="C21F32"/>
                </a:solidFill>
                <a:latin typeface="Cambria"/>
              </a:rPr>
              <a:t>Sí valió Spark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286000"/>
            <a:ext cx="301752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1500" b="0" i="0">
                <a:solidFill>
                  <a:srgbClr val="1C1F24"/>
                </a:solidFill>
                <a:latin typeface="Calibri"/>
              </a:rPr>
              <a:t>Ingesta: 17 GB en 5 min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1500" b="0" i="0">
                <a:solidFill>
                  <a:srgbClr val="1C1F24"/>
                </a:solidFill>
                <a:latin typeface="Calibri"/>
              </a:rPr>
              <a:t>Joins de 10 M postulaciones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1500" b="0" i="0">
                <a:solidFill>
                  <a:srgbClr val="1C1F24"/>
                </a:solidFill>
                <a:latin typeface="Calibri"/>
              </a:rPr>
              <a:t>TF-IDF: 12,4 M pares en 54 s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1500" b="0" i="0">
                <a:solidFill>
                  <a:srgbClr val="1C1F24"/>
                </a:solidFill>
                <a:latin typeface="Calibri"/>
              </a:rPr>
              <a:t>LSH a escala y FP-Growth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463040"/>
            <a:ext cx="3520440" cy="3520440"/>
          </a:xfrm>
          <a:prstGeom prst="roundRect">
            <a:avLst>
              <a:gd name="adj" fmla="val 8000"/>
            </a:avLst>
          </a:prstGeom>
          <a:solidFill>
            <a:srgbClr val="EE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1999" y="169164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 i="0">
                <a:solidFill>
                  <a:srgbClr val="0E7C74"/>
                </a:solidFill>
                <a:latin typeface="Cambria"/>
              </a:rPr>
              <a:t>Mejor en local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1999" y="2286000"/>
            <a:ext cx="301752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1500" b="0" i="0">
                <a:solidFill>
                  <a:srgbClr val="1C1F24"/>
                </a:solidFill>
                <a:latin typeface="Calibri"/>
              </a:rPr>
              <a:t>Sketches: secuenciales por definición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1500" b="0" i="0">
                <a:solidFill>
                  <a:srgbClr val="1C1F24"/>
                </a:solidFill>
                <a:latin typeface="Calibri"/>
              </a:rPr>
              <a:t>FAISS: ms desde memoria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1500" b="0" i="0">
                <a:solidFill>
                  <a:srgbClr val="1C1F24"/>
                </a:solidFill>
                <a:latin typeface="Calibri"/>
              </a:rPr>
              <a:t>DGIM y figuras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463040"/>
            <a:ext cx="3520440" cy="3520440"/>
          </a:xfrm>
          <a:prstGeom prst="roundRect">
            <a:avLst>
              <a:gd name="adj" fmla="val 8000"/>
            </a:avLst>
          </a:prstGeom>
          <a:solidFill>
            <a:srgbClr val="EE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169164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 i="0">
                <a:solidFill>
                  <a:srgbClr val="1C1F24"/>
                </a:solidFill>
                <a:latin typeface="Cambria"/>
              </a:rPr>
              <a:t>A 10× / 100×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286000"/>
            <a:ext cx="3017520" cy="2651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1500" b="0" i="0">
                <a:solidFill>
                  <a:srgbClr val="1C1F24"/>
                </a:solidFill>
                <a:latin typeface="Calibri"/>
              </a:rPr>
              <a:t>Fuerza bruta: 13 / 1 300 años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1500" b="0" i="0">
                <a:solidFill>
                  <a:srgbClr val="1C1F24"/>
                </a:solidFill>
                <a:latin typeface="Calibri"/>
              </a:rPr>
              <a:t>HNSW no cabe → IVF-PQ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1500" b="0" i="0">
                <a:solidFill>
                  <a:srgbClr val="1C1F24"/>
                </a:solidFill>
                <a:latin typeface="Calibri"/>
              </a:rPr>
              <a:t>Sketches casi no crecen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1500" b="0" i="0">
                <a:solidFill>
                  <a:srgbClr val="1C1F24"/>
                </a:solidFill>
                <a:latin typeface="Calibri"/>
              </a:rPr>
              <a:t>DGIM: de curiosidad a necesidad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166360"/>
            <a:ext cx="11091672" cy="960120"/>
          </a:xfrm>
          <a:prstGeom prst="roundRect">
            <a:avLst>
              <a:gd name="adj" fmla="val 8000"/>
            </a:avLst>
          </a:prstGeom>
          <a:solidFill>
            <a:srgbClr val="1C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212080"/>
            <a:ext cx="10515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Overhead medido: </a:t>
            </a:r>
            <a:r>
              <a:rPr sz="1500" b="0" i="0">
                <a:solidFill>
                  <a:srgbClr val="B9BEC6"/>
                </a:solidFill>
                <a:latin typeface="Calibri"/>
              </a:rPr>
              <a:t>RDD en Python 58× más lento · firmas MinHash en SQL 37 min · ventana rowsBetween O(n·N) hasta usar suma acumulada.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C21F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mbria"/>
              </a:rPr>
              <a:t>VI</a:t>
            </a:r>
          </a:p>
        </p:txBody>
      </p:sp>
      <p:sp>
        <p:nvSpPr>
          <p:cNvPr id="3" name="Titulo"/>
          <p:cNvSpPr txBox="1"/>
          <p:nvPr/>
        </p:nvSpPr>
        <p:spPr>
          <a:xfrm>
            <a:off x="1298448" y="429768"/>
            <a:ext cx="10344607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C1F24"/>
                </a:solidFill>
                <a:latin typeface="Cambria"/>
              </a:rPr>
              <a:t>Datos públicos: transparencia sin estigmatizar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068"/>
                </a:solidFill>
                <a:latin typeface="Calibri"/>
              </a:rPr>
              <a:t>Proyecto Integrador 1 · Minería de Datos Masivos · 2026-2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77295" y="641908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068"/>
                </a:solidFill>
                <a:latin typeface="Calibri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449824" cy="2148840"/>
          </a:xfrm>
          <a:prstGeom prst="roundRect">
            <a:avLst>
              <a:gd name="adj" fmla="val 8000"/>
            </a:avLst>
          </a:prstGeom>
          <a:solidFill>
            <a:srgbClr val="EE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1737360"/>
            <a:ext cx="548640" cy="548640"/>
          </a:xfrm>
          <a:prstGeom prst="ellipse">
            <a:avLst/>
          </a:prstGeom>
          <a:solidFill>
            <a:srgbClr val="0E7C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764792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C1F24"/>
                </a:solidFill>
                <a:latin typeface="Cambria"/>
              </a:rPr>
              <a:t>Transparencia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286000"/>
            <a:ext cx="41148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B6068"/>
                </a:solidFill>
                <a:latin typeface="Calibri"/>
              </a:rPr>
              <a:t>Cualquier ciudadano u oficina de control puede priorizar qué revisar entre millones de procesos.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1463040"/>
            <a:ext cx="5449824" cy="2148840"/>
          </a:xfrm>
          <a:prstGeom prst="roundRect">
            <a:avLst>
              <a:gd name="adj" fmla="val 8000"/>
            </a:avLst>
          </a:prstGeom>
          <a:solidFill>
            <a:srgbClr val="EE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64807" y="1737360"/>
            <a:ext cx="548640" cy="548640"/>
          </a:xfrm>
          <a:prstGeom prst="ellipse">
            <a:avLst/>
          </a:prstGeom>
          <a:solidFill>
            <a:srgbClr val="C21F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42048" y="1764792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C1F24"/>
                </a:solidFill>
                <a:latin typeface="Cambria"/>
              </a:rPr>
              <a:t>Uso indebido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42048" y="2286000"/>
            <a:ext cx="41148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B6068"/>
                </a:solidFill>
                <a:latin typeface="Calibri"/>
              </a:rPr>
              <a:t>RUC 10… es una persona natural. Publicamos etiquetas anónimas (P0001) y la lectura alternativa de cada hallazgo.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840480"/>
            <a:ext cx="5449824" cy="2148840"/>
          </a:xfrm>
          <a:prstGeom prst="roundRect">
            <a:avLst>
              <a:gd name="adj" fmla="val 8000"/>
            </a:avLst>
          </a:prstGeom>
          <a:solidFill>
            <a:srgbClr val="EE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2959" y="4114800"/>
            <a:ext cx="548640" cy="548640"/>
          </a:xfrm>
          <a:prstGeom prst="ellipse">
            <a:avLst/>
          </a:prstGeom>
          <a:solidFill>
            <a:srgbClr val="1C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4142232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C1F24"/>
                </a:solidFill>
                <a:latin typeface="Cambria"/>
              </a:rPr>
              <a:t>Calidad y cobertura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4663440"/>
            <a:ext cx="41148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B6068"/>
                </a:solidFill>
                <a:latin typeface="Calibri"/>
              </a:rPr>
              <a:t>Quiebre de 2015, registros pasivos y sin compras &lt; 8 UIT: un dato mal entendido da conclusiones falsas.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0488" y="3840480"/>
            <a:ext cx="5449824" cy="2148840"/>
          </a:xfrm>
          <a:prstGeom prst="roundRect">
            <a:avLst>
              <a:gd name="adj" fmla="val 8000"/>
            </a:avLst>
          </a:prstGeom>
          <a:solidFill>
            <a:srgbClr val="EE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64807" y="4114800"/>
            <a:ext cx="548640" cy="548640"/>
          </a:xfrm>
          <a:prstGeom prst="ellipse">
            <a:avLst/>
          </a:prstGeom>
          <a:solidFill>
            <a:srgbClr val="5B60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42048" y="4142232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 i="0">
                <a:solidFill>
                  <a:srgbClr val="1C1F24"/>
                </a:solidFill>
                <a:latin typeface="Cambria"/>
              </a:rPr>
              <a:t>Indicios, no pruebas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42048" y="4663440"/>
            <a:ext cx="41148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5B6068"/>
                </a:solidFill>
                <a:latin typeface="Calibri"/>
              </a:rPr>
              <a:t>Las técnicas priorizan auditorías; no reemplazan el expediente ni el derecho de defensa.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548640" y="429768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1C1F24"/>
                </a:solidFill>
                <a:latin typeface="Cambria"/>
              </a:rPr>
              <a:t>Demostración: el reporte interactivo y el código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5B6068"/>
                </a:solidFill>
                <a:latin typeface="Calibri"/>
              </a:rPr>
              <a:t>Proyecto Integrador 1 · Minería de Datos Masivos · 2026-2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41908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5B6068"/>
                </a:solidFill>
                <a:latin typeface="Calibri"/>
              </a:rPr>
              <a:t>19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5486400" cy="4663440"/>
          </a:xfrm>
          <a:prstGeom prst="roundRect">
            <a:avLst>
              <a:gd name="adj" fmla="val 8000"/>
            </a:avLst>
          </a:prstGeom>
          <a:solidFill>
            <a:srgbClr val="1C1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9164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 i="0">
                <a:solidFill>
                  <a:srgbClr val="FFFFFF"/>
                </a:solidFill>
                <a:latin typeface="Cambria"/>
              </a:rPr>
              <a:t>Reporte web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9456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B9BEC6"/>
                </a:solidFill>
                <a:latin typeface="Calibri"/>
              </a:rPr>
              <a:t>cesarpr30.github.io/Proyecto_DataMining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34640"/>
            <a:ext cx="484632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56032" indent="-256032">
              <a:spcAft>
                <a:spcPts val="1000"/>
              </a:spcAft>
              <a:buChar char="•"/>
            </a:pPr>
            <a:r>
              <a:rPr sz="1600" b="0" i="0">
                <a:solidFill>
                  <a:srgbClr val="FFFFFF"/>
                </a:solidFill>
                <a:latin typeface="Calibri"/>
              </a:rPr>
              <a:t>Curva S de LSH: mover b y r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1600" b="0" i="0">
                <a:solidFill>
                  <a:srgbClr val="FFFFFF"/>
                </a:solidFill>
                <a:latin typeface="Calibri"/>
              </a:rPr>
              <a:t>Bloom: bits por clave vs. falsos positivos</a:t>
            </a:r>
          </a:p>
          <a:p>
            <a:pPr algn="l" marL="256032" indent="-256032">
              <a:spcAft>
                <a:spcPts val="1000"/>
              </a:spcAft>
              <a:buChar char="•"/>
            </a:pPr>
            <a:r>
              <a:rPr sz="1600" b="0" i="0">
                <a:solidFill>
                  <a:srgbClr val="FFFFFF"/>
                </a:solidFill>
                <a:latin typeface="Calibri"/>
              </a:rPr>
              <a:t>Reglas: filtrar por soporte, confianza y lift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029200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B9BEC6"/>
                </a:solidFill>
                <a:latin typeface="Calibri"/>
              </a:rPr>
              <a:t>Spark calcula una vez offline; la página solo lee artefactos y recalcula en vivo las fórmulas.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463040"/>
            <a:ext cx="5239512" cy="4663440"/>
          </a:xfrm>
          <a:prstGeom prst="roundRect">
            <a:avLst>
              <a:gd name="adj" fmla="val 8000"/>
            </a:avLst>
          </a:prstGeom>
          <a:solidFill>
            <a:srgbClr val="EE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169164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100" b="1" i="0">
                <a:solidFill>
                  <a:srgbClr val="C21F32"/>
                </a:solidFill>
                <a:latin typeface="Cambria"/>
              </a:rPr>
              <a:t>Código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2286000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C1F24"/>
                </a:solidFill>
                <a:latin typeface="Consolas"/>
              </a:rPr>
              <a:t>10_parte2_similitud.py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2651760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068"/>
                </a:solidFill>
                <a:latin typeface="Calibri"/>
              </a:rPr>
              <a:t>MinHash en Spark SQL con funciones de orden superior, sin UDF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3218688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C1F24"/>
                </a:solidFill>
                <a:latin typeface="Consolas"/>
              </a:rPr>
              <a:t>14_parte5_reglas.py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3584448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068"/>
                </a:solidFill>
                <a:latin typeface="Calibri"/>
              </a:rPr>
              <a:t>Apriori por niveles: flatMap + reduceByKey + broadcast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4151376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C1F24"/>
                </a:solidFill>
                <a:latin typeface="Consolas"/>
              </a:rPr>
              <a:t>13_parte4_flujos.py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4517136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068"/>
                </a:solidFill>
                <a:latin typeface="Calibri"/>
              </a:rPr>
              <a:t>Bloom, Count-Min y DGIM desde cero, una pasada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5084064"/>
            <a:ext cx="4663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1C1F24"/>
                </a:solidFill>
                <a:latin typeface="Consolas"/>
              </a:rPr>
              <a:t>ejecutar_todo.py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5449824"/>
            <a:ext cx="4663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 i="0">
                <a:solidFill>
                  <a:srgbClr val="5B6068"/>
                </a:solidFill>
                <a:latin typeface="Calibri"/>
              </a:rPr>
              <a:t>Reproduce el pipeline completo (pasos 04 a 15)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ulo"/>
          <p:cNvSpPr txBox="1"/>
          <p:nvPr/>
        </p:nvSpPr>
        <p:spPr>
          <a:xfrm>
            <a:off x="548640" y="429768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FFFFFF"/>
                </a:solidFill>
                <a:latin typeface="Cambria"/>
              </a:rPr>
              <a:t>Respuestas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 i="0">
                <a:solidFill>
                  <a:srgbClr val="B9BEC6"/>
                </a:solidFill>
                <a:latin typeface="Calibri"/>
              </a:rPr>
              <a:t>Proyecto Integrador 1 · Minería de Datos Masivos · 2026-2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295" y="641908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 i="0">
                <a:solidFill>
                  <a:srgbClr val="B9BEC6"/>
                </a:solidFill>
                <a:latin typeface="Calibri"/>
              </a:rPr>
              <a:t>20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508760"/>
            <a:ext cx="731520" cy="731520"/>
          </a:xfrm>
          <a:prstGeom prst="ellipse">
            <a:avLst/>
          </a:prstGeom>
          <a:solidFill>
            <a:srgbClr val="C21F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P1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490472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FFFFFF"/>
                </a:solidFill>
                <a:latin typeface="Calibri"/>
              </a:rPr>
              <a:t>Sí, en dos escalas. Red del Poder Judicial: gana 83 % frente a 36 % esperado. Parejas que nunca ganan = registros pasivos.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697480"/>
            <a:ext cx="731520" cy="731520"/>
          </a:xfrm>
          <a:prstGeom prst="ellipse">
            <a:avLst/>
          </a:prstGeom>
          <a:solidFill>
            <a:srgbClr val="C21F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P2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679192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FFFFFF"/>
                </a:solidFill>
                <a:latin typeface="Calibri"/>
              </a:rPr>
              <a:t>98 % de los casi-duplicados son reconvocatorias. Texto casi idéntico comparte ganador: 15 % vs 0,02 % al azar.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886200"/>
            <a:ext cx="731520" cy="731520"/>
          </a:xfrm>
          <a:prstGeom prst="ellipse">
            <a:avLst/>
          </a:prstGeom>
          <a:solidFill>
            <a:srgbClr val="C21F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mbria"/>
              </a:rPr>
              <a:t>P3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867912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FFFFFF"/>
                </a:solidFill>
                <a:latin typeface="Calibri"/>
              </a:rPr>
              <a:t>Sí: Bloom 100× más chico pierde 0,41 % de alertas; Count-Min recupera el top 20 con 512 KB.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16636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mbria"/>
              </a:rPr>
              <a:t>Lo aproximado casi nunca fue el problema; la representación y la calidad del dato sí. </a:t>
            </a:r>
            <a:r>
              <a:rPr sz="2200" b="1" i="0">
                <a:solidFill>
                  <a:srgbClr val="C21F32"/>
                </a:solidFill>
                <a:latin typeface="Cambria"/>
              </a:rPr>
              <a:t>¿Preguntas?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